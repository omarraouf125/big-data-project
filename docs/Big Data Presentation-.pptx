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3.xml" ContentType="application/vnd.openxmlformats-officedocument.drawingml.chart+xml"/>
  <Override PartName="/ppt/drawings/drawing1.xml" ContentType="application/vnd.openxmlformats-officedocument.drawingml.chartshape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4" r:id="rId11"/>
    <p:sldId id="265" r:id="rId12"/>
    <p:sldId id="266" r:id="rId13"/>
    <p:sldId id="271" r:id="rId14"/>
    <p:sldId id="273" r:id="rId15"/>
    <p:sldId id="275" r:id="rId16"/>
    <p:sldId id="276" r:id="rId17"/>
    <p:sldId id="277" r:id="rId18"/>
    <p:sldId id="278" r:id="rId19"/>
    <p:sldId id="279" r:id="rId20"/>
    <p:sldId id="268" r:id="rId21"/>
    <p:sldId id="272" r:id="rId22"/>
    <p:sldId id="269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08" y="16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A6B7F"/>
                </a:solidFill>
                <a:latin typeface="Calibri"/>
              </a:defRPr>
            </a:pPr>
            <a:r>
              <a:rPr lang="en-US" sz="1100" b="0" i="0" u="none" strike="noStrike" baseline="0"/>
              <a:t>Model accuracy on train, test, and validation data for </a:t>
            </a:r>
            <a:r>
              <a:rPr lang="en-GB" sz="1100" b="0" i="0" u="none" strike="noStrike" baseline="0"/>
              <a:t>Regression Results </a:t>
            </a:r>
            <a:endParaRPr lang="en-GB" sz="1100" b="0" i="0" u="none" strike="noStrike">
              <a:solidFill>
                <a:srgbClr val="5A6B7F"/>
              </a:solidFill>
              <a:latin typeface="Calibri"/>
            </a:endParaRP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 (Training)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001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Linear Regression</c:v>
                </c:pt>
                <c:pt idx="1">
                  <c:v>Decision Tree</c:v>
                </c:pt>
                <c:pt idx="2">
                  <c:v>Random Forest</c:v>
                </c:pt>
                <c:pt idx="3">
                  <c:v>GBT Regressor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0.79210000000000003</c:v>
                </c:pt>
                <c:pt idx="1">
                  <c:v>0.83289999999999997</c:v>
                </c:pt>
                <c:pt idx="2">
                  <c:v>0.86799999999999999</c:v>
                </c:pt>
                <c:pt idx="3">
                  <c:v>0.87670000000000003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81-4530-AD84-0D20774C8E3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R² Score (Testing)</c:v>
                </c:pt>
              </c:strCache>
            </c:strRef>
          </c:tx>
          <c:spPr>
            <a:solidFill>
              <a:srgbClr val="2CA5B8"/>
            </a:solidFill>
            <a:effectLst/>
          </c:spPr>
          <c:invertIfNegative val="0"/>
          <c:dLbls>
            <c:numFmt formatCode="#,##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001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Linear Regression</c:v>
                </c:pt>
                <c:pt idx="1">
                  <c:v>Decision Tree</c:v>
                </c:pt>
                <c:pt idx="2">
                  <c:v>Random Forest</c:v>
                </c:pt>
                <c:pt idx="3">
                  <c:v>GBT Regressor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0.79320000000000002</c:v>
                </c:pt>
                <c:pt idx="1">
                  <c:v>0.81579999999999997</c:v>
                </c:pt>
                <c:pt idx="2">
                  <c:v>0.84309999999999996</c:v>
                </c:pt>
                <c:pt idx="3">
                  <c:v>0.84499999999999997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681-4530-AD84-0D20774C8E3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R² Score (Validation)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dLbls>
            <c:numFmt formatCode="#,##0.00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Linear Regression</c:v>
                </c:pt>
                <c:pt idx="1">
                  <c:v>Decision Tree</c:v>
                </c:pt>
                <c:pt idx="2">
                  <c:v>Random Forest</c:v>
                </c:pt>
                <c:pt idx="3">
                  <c:v>GBT Regressor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0.79069999999999996</c:v>
                </c:pt>
                <c:pt idx="1">
                  <c:v>0.81420000000000003</c:v>
                </c:pt>
                <c:pt idx="2">
                  <c:v>0.84350000000000003</c:v>
                </c:pt>
                <c:pt idx="3">
                  <c:v>0.84699999999999998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DB-442D-ABD2-C3E522DFA33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A6B7F"/>
                </a:solidFill>
                <a:latin typeface="Calibri"/>
              </a:defRPr>
            </a:pPr>
            <a:r>
              <a:rPr lang="en-US" sz="1100" b="0" i="0" u="none" strike="noStrike" baseline="0"/>
              <a:t>Model accuracy on train, test, and validation data for </a:t>
            </a:r>
            <a:r>
              <a:rPr lang="en-GB" sz="1100" b="0" i="0" u="none" strike="noStrike" baseline="0"/>
              <a:t>for Classification Accuracy</a:t>
            </a:r>
            <a:endParaRPr lang="en-GB" sz="1100" b="0" i="0" u="none" strike="noStrike">
              <a:solidFill>
                <a:srgbClr val="5A6B7F"/>
              </a:solidFill>
              <a:latin typeface="Calibri"/>
            </a:endParaRP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 (Training)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001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Linear Regression</c:v>
                </c:pt>
                <c:pt idx="1">
                  <c:v>Decision Tree</c:v>
                </c:pt>
                <c:pt idx="2">
                  <c:v>Random Forest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0.80700000000000005</c:v>
                </c:pt>
                <c:pt idx="1">
                  <c:v>0.83899999999999997</c:v>
                </c:pt>
                <c:pt idx="2">
                  <c:v>0.86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81-4530-AD84-0D20774C8E3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R² Score (Testing)</c:v>
                </c:pt>
              </c:strCache>
            </c:strRef>
          </c:tx>
          <c:spPr>
            <a:solidFill>
              <a:srgbClr val="2CA5B8"/>
            </a:solidFill>
            <a:effectLst/>
          </c:spPr>
          <c:invertIfNegative val="0"/>
          <c:dLbls>
            <c:numFmt formatCode="#,##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001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Linear Regression</c:v>
                </c:pt>
                <c:pt idx="1">
                  <c:v>Decision Tree</c:v>
                </c:pt>
                <c:pt idx="2">
                  <c:v>Random Forest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0.80700000000000005</c:v>
                </c:pt>
                <c:pt idx="1">
                  <c:v>0.82799999999999996</c:v>
                </c:pt>
                <c:pt idx="2">
                  <c:v>0.84299999999999997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681-4530-AD84-0D20774C8E3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R² Score (Validation)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dLbls>
            <c:numFmt formatCode="#,##0.00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Linear Regression</c:v>
                </c:pt>
                <c:pt idx="1">
                  <c:v>Decision Tree</c:v>
                </c:pt>
                <c:pt idx="2">
                  <c:v>Random Forest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0.80700000000000005</c:v>
                </c:pt>
                <c:pt idx="1">
                  <c:v>0.82899999999999996</c:v>
                </c:pt>
                <c:pt idx="2">
                  <c:v>0.84099999999999997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DB-442D-ABD2-C3E522DFA33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5A6B7F"/>
                </a:solidFill>
                <a:latin typeface="Calibri"/>
              </a:defRPr>
            </a:pPr>
            <a:r>
              <a:rPr lang="en-US" sz="1000" b="0" i="0" u="none" strike="noStrike">
                <a:solidFill>
                  <a:srgbClr val="5A6B7F"/>
                </a:solidFill>
                <a:latin typeface="Calibri"/>
              </a:rPr>
              <a:t>Random Forest: RMSE vs Tree Count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RMSE</c:v>
                </c:pt>
              </c:strCache>
            </c:strRef>
          </c:tx>
          <c:spPr>
            <a:ln w="2540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50 trees</c:v>
                </c:pt>
                <c:pt idx="1">
                  <c:v>100 trees</c:v>
                </c:pt>
                <c:pt idx="2">
                  <c:v>200 trees</c:v>
                </c:pt>
                <c:pt idx="3">
                  <c:v>500 trees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1.1499999999999999</c:v>
                </c:pt>
                <c:pt idx="1">
                  <c:v>0.92</c:v>
                </c:pt>
                <c:pt idx="2">
                  <c:v>0.78</c:v>
                </c:pt>
                <c:pt idx="3">
                  <c:v>0.72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F8D-4D00-BA93-85FFCD6019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Testing RMSE</c:v>
                </c:pt>
              </c:strCache>
            </c:strRef>
          </c:tx>
          <c:spPr>
            <a:ln w="25400" cap="flat">
              <a:solidFill>
                <a:srgbClr val="F4A2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4A261"/>
              </a:solidFill>
              <a:ln w="9525" cap="flat">
                <a:solidFill>
                  <a:srgbClr val="F4A261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50 trees</c:v>
                </c:pt>
                <c:pt idx="1">
                  <c:v>100 trees</c:v>
                </c:pt>
                <c:pt idx="2">
                  <c:v>200 trees</c:v>
                </c:pt>
                <c:pt idx="3">
                  <c:v>500 trees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1.25</c:v>
                </c:pt>
                <c:pt idx="1">
                  <c:v>1.05</c:v>
                </c:pt>
                <c:pt idx="2">
                  <c:v>0.95</c:v>
                </c:pt>
                <c:pt idx="3">
                  <c:v>0.93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FF8D-4D00-BA93-85FFCD6019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  <c:userShapes r:id="rId2"/>
</c:chartSpace>
</file>

<file path=ppt/drawing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6" name="chart">
          <a:extLst xmlns:a="http://schemas.openxmlformats.org/drawingml/2006/main">
            <a:ext uri="{FF2B5EF4-FFF2-40B4-BE49-F238E27FC236}">
              <a16:creationId xmlns:a16="http://schemas.microsoft.com/office/drawing/2014/main" id="{044938F8-292A-BC9B-02E2-B78EB8DC4360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4023360" cy="2286000"/>
        </a:xfrm>
        <a:prstGeom xmlns:a="http://schemas.openxmlformats.org/drawingml/2006/main" prst="rect">
          <a:avLst/>
        </a:prstGeom>
      </cdr:spPr>
    </cdr:pic>
  </cdr:relSizeAnchor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F67A05FD-AE3D-9149-1826-654CEBCB7A8F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2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4023360" cy="2286000"/>
        </a:xfrm>
        <a:prstGeom xmlns:a="http://schemas.openxmlformats.org/drawingml/2006/main" prst="rect">
          <a:avLst/>
        </a:prstGeom>
      </cdr:spPr>
    </cdr:pic>
  </cdr:relSizeAnchor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chart">
          <a:extLst xmlns:a="http://schemas.openxmlformats.org/drawingml/2006/main">
            <a:ext uri="{FF2B5EF4-FFF2-40B4-BE49-F238E27FC236}">
              <a16:creationId xmlns:a16="http://schemas.microsoft.com/office/drawing/2014/main" id="{8AC14943-9AB3-1248-B4F0-5FB199F96FD4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3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9505950" cy="7848600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800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F012F-A964-F5E0-1158-B46DCD7DA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DFD83B-FD27-6EFC-657F-ADF9D8FBC7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D6AF83-E964-D902-84EA-619A40B41F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422B0-CBA9-3D1D-F98E-CC3A01974C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2575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A64BF-FF7C-4AC5-5FB5-009383BBF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60F847-9650-2F2D-E8D1-45D2003CA6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0664D8-63C2-6870-3BA1-33CB530B65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6F080E-3D61-F57B-8CBD-9FCB8FD7DA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2873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A3EBF-CE3A-A7B1-50C4-5C000F407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72FC1A-FAE3-EEAA-1614-1DC5CFC25D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519F11-7CBD-72CD-B259-78F02B0B46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5BBAE-C11D-2E09-CD60-F68F61A1A2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6995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9A43F-7649-DFFF-ACF3-B72C2CFD5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34C9EC-2A21-A1B2-EFEA-C3F8163439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523F97-CFFB-31EA-65A0-9799353294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2327E4-17BF-9478-4F81-445F15FC31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2583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773A1-F765-6C36-83C7-200EB7FB2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58ABB2-FDF1-FE33-1406-8052746280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DA9F6F-815C-BA8D-169F-26EA4DD70B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018EEC-841E-F04D-0ADB-1AC44B8616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0944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4981F-ED54-A465-9211-FD67D0E6F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D54DF0-6713-4504-2062-8B461A69F0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767886-0961-1FE0-1AC6-6256EB8690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027796-4AB3-1D88-5458-3F62D9B532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724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AEA1B-0B60-6180-2F60-0E230EA7F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87A363-890A-83A1-FB6B-EBC3B481C6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9844BE-EEA2-D55F-F7D9-4E39605C5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60569-EDF4-D09C-EFA0-4C3B372A2D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9384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907C3-5CD0-7999-A6D9-782455563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56065-F0F2-37A4-5A4E-19ACD3B0F3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8BE74D-AF17-2024-634A-ECA8A44FFB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C9B41-3210-53D6-25CE-3C87A5357B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3737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8761A-FD83-F837-1672-91CD6DF51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BF6659-6004-6C70-EB21-E625472648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0FAC35-8BD1-994B-7216-A8D742BCDD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BC5744-FF69-5B95-25F1-7C920F01B7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8087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Audience Reception</a:t>
            </a:r>
            <a:endParaRPr lang="en-US" sz="380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3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Content Acquisition</a:t>
            </a:r>
            <a:endParaRPr lang="en-US" sz="380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Predictive Analytics Approach Using IMDb Big Data &amp; Apache Spark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65A82">
              <a:alpha val="70000"/>
            </a:srgbClr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6" name="Text 4"/>
          <p:cNvSpPr/>
          <p:nvPr/>
        </p:nvSpPr>
        <p:spPr>
          <a:xfrm>
            <a:off x="731520" y="4617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  |  May 2026</a:t>
            </a:r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60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I: Business Part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1280160" y="1280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1280160" y="1554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1280160" y="1828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&amp; Stakeholders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II: Technical Part</a:t>
            </a:r>
            <a:endParaRPr lang="en-US" sz="2000"/>
          </a:p>
        </p:txBody>
      </p:sp>
      <p:sp>
        <p:nvSpPr>
          <p:cNvPr id="9" name="Text 7"/>
          <p:cNvSpPr/>
          <p:nvPr/>
        </p:nvSpPr>
        <p:spPr>
          <a:xfrm>
            <a:off x="1280160" y="2834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1280160" y="3108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&amp; Feature Engineering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1280160" y="3383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1280160" y="3657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&amp; Segmentation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1280160" y="3931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Visualization</a:t>
            </a:r>
            <a:endParaRPr 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kern="0" spc="600">
                <a:solidFill>
                  <a:srgbClr val="2C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</a:t>
            </a:r>
            <a:endParaRPr lang="en-US" sz="180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Context</a:t>
            </a:r>
            <a:endParaRPr lang="en-US" sz="420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1371600" cy="54864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business problem and value proposition</a:t>
            </a:r>
            <a:endParaRPr lang="en-US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40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1097280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5" name="Text 3"/>
          <p:cNvSpPr/>
          <p:nvPr/>
        </p:nvSpPr>
        <p:spPr>
          <a:xfrm>
            <a:off x="1005840" y="128016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can a streaming enterprise estimate the likely</a:t>
            </a:r>
            <a:endParaRPr lang="en-US" sz="2000"/>
          </a:p>
          <a:p>
            <a:pPr marL="0" indent="0" algn="ctr">
              <a:buNone/>
            </a:pPr>
            <a:r>
              <a:rPr lang="en-US" sz="2000" b="1" i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audience reception of a title before acquiring it?</a:t>
            </a:r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1097280" y="26060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decisions rely on limited manual judgment and brand reputation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1097280" y="308152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method to predict audience reception before purchase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1097280" y="3557016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financial risk: poor acquisitions waste budget and reduce viewer retention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1097280" y="4032504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competition among platforms demands data-driven content strategy</a:t>
            </a:r>
            <a:endParaRPr lang="en-US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</a:t>
            </a:r>
            <a:endParaRPr lang="en-US" sz="340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predictive analytics system that helps acquisition managers and content strategists make better content selection decisions using historical metadata.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2331720" cy="2286000"/>
          </a:xfrm>
          <a:prstGeom prst="rect">
            <a:avLst/>
          </a:prstGeom>
          <a:solidFill>
            <a:srgbClr val="E8F4F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60604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3375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</a:t>
            </a:r>
            <a:endParaRPr lang="en-US" sz="1800"/>
          </a:p>
        </p:txBody>
      </p:sp>
      <p:sp>
        <p:nvSpPr>
          <p:cNvPr id="8" name="Text 5"/>
          <p:cNvSpPr/>
          <p:nvPr/>
        </p:nvSpPr>
        <p:spPr>
          <a:xfrm>
            <a:off x="868680" y="37490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audience reception ratings before acquisition</a:t>
            </a:r>
            <a:endParaRPr lang="en-US" sz="1200"/>
          </a:p>
        </p:txBody>
      </p:sp>
      <p:sp>
        <p:nvSpPr>
          <p:cNvPr id="9" name="Shape 6"/>
          <p:cNvSpPr/>
          <p:nvPr/>
        </p:nvSpPr>
        <p:spPr>
          <a:xfrm>
            <a:off x="3406140" y="2377440"/>
            <a:ext cx="2331720" cy="2286000"/>
          </a:xfrm>
          <a:prstGeom prst="rect">
            <a:avLst/>
          </a:prstGeom>
          <a:solidFill>
            <a:srgbClr val="E8F4F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4820" y="2606040"/>
            <a:ext cx="594360" cy="594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43300" y="33375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</a:t>
            </a:r>
            <a:endParaRPr lang="en-US" sz="1800"/>
          </a:p>
        </p:txBody>
      </p:sp>
      <p:sp>
        <p:nvSpPr>
          <p:cNvPr id="12" name="Text 8"/>
          <p:cNvSpPr/>
          <p:nvPr/>
        </p:nvSpPr>
        <p:spPr>
          <a:xfrm>
            <a:off x="3543300" y="37490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 associated with stronger audience reception</a:t>
            </a:r>
            <a:endParaRPr lang="en-US" sz="1200"/>
          </a:p>
        </p:txBody>
      </p:sp>
      <p:sp>
        <p:nvSpPr>
          <p:cNvPr id="13" name="Shape 9"/>
          <p:cNvSpPr/>
          <p:nvPr/>
        </p:nvSpPr>
        <p:spPr>
          <a:xfrm>
            <a:off x="6080760" y="2377440"/>
            <a:ext cx="2331720" cy="2286000"/>
          </a:xfrm>
          <a:prstGeom prst="rect">
            <a:avLst/>
          </a:prstGeom>
          <a:solidFill>
            <a:srgbClr val="E8F4F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2606040"/>
            <a:ext cx="594360" cy="5943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17920" y="33375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</a:t>
            </a:r>
            <a:endParaRPr lang="en-US" sz="1800"/>
          </a:p>
        </p:txBody>
      </p:sp>
      <p:sp>
        <p:nvSpPr>
          <p:cNvPr id="16" name="Text 11"/>
          <p:cNvSpPr/>
          <p:nvPr/>
        </p:nvSpPr>
        <p:spPr>
          <a:xfrm>
            <a:off x="6217920" y="37490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prioritization of acquisition candidates</a:t>
            </a:r>
            <a:endParaRPr lang="en-US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Value &amp; Stakeholders</a:t>
            </a:r>
            <a:endParaRPr lang="en-US" sz="340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 Proposition</a:t>
            </a:r>
            <a:endParaRPr lang="en-US" sz="1800"/>
          </a:p>
        </p:txBody>
      </p:sp>
      <p:sp>
        <p:nvSpPr>
          <p:cNvPr id="5" name="Text 3"/>
          <p:cNvSpPr/>
          <p:nvPr/>
        </p:nvSpPr>
        <p:spPr>
          <a:xfrm>
            <a:off x="1097280" y="1691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acquisition risk with data-backed predictions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1097280" y="21488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content budget allocation across genres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1097280" y="2606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viewer satisfaction and platform retention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1097280" y="3063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 through predictive intelligence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493776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Stakeholders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5303520" y="1691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Managers</a:t>
            </a:r>
            <a:endParaRPr lang="en-US" sz="1300"/>
          </a:p>
          <a:p>
            <a:pPr marL="0" indent="0">
              <a:buNone/>
            </a:pPr>
            <a:r>
              <a:rPr lang="en-US" sz="110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users for acquisition decisions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5303520" y="222199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Strategists</a:t>
            </a:r>
            <a:endParaRPr lang="en-US" sz="1300"/>
          </a:p>
          <a:p>
            <a:pPr marL="0" indent="0">
              <a:buNone/>
            </a:pPr>
            <a:r>
              <a:rPr lang="en-US" sz="110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planning and genre mix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5303520" y="275234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Teams</a:t>
            </a:r>
            <a:endParaRPr lang="en-US" sz="1300"/>
          </a:p>
          <a:p>
            <a:pPr marL="0" indent="0">
              <a:buNone/>
            </a:pPr>
            <a:r>
              <a:rPr lang="en-US" sz="110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forecasting for content investment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5303520" y="328269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Leadership</a:t>
            </a:r>
            <a:endParaRPr lang="en-US" sz="1300"/>
          </a:p>
          <a:p>
            <a:pPr marL="0" indent="0">
              <a:buNone/>
            </a:pPr>
            <a:r>
              <a:rPr lang="en-US" sz="110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content direction</a:t>
            </a:r>
            <a:endParaRPr lang="en-US" sz="1300"/>
          </a:p>
        </p:txBody>
      </p:sp>
      <p:sp>
        <p:nvSpPr>
          <p:cNvPr id="14" name="Shape 12"/>
          <p:cNvSpPr/>
          <p:nvPr/>
        </p:nvSpPr>
        <p:spPr>
          <a:xfrm>
            <a:off x="731520" y="4389120"/>
            <a:ext cx="7680960" cy="54864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00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kern="0" spc="600">
                <a:solidFill>
                  <a:srgbClr val="2C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</a:t>
            </a:r>
            <a:endParaRPr lang="en-US" sz="180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Approach</a:t>
            </a:r>
            <a:endParaRPr lang="en-US" sz="420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1371600" cy="54864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models, and implementation details</a:t>
            </a:r>
            <a:endParaRPr lang="en-US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Dataset: IMDb Non-Commercial Datasets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828800" cy="1188720"/>
          </a:xfrm>
          <a:prstGeom prst="rect">
            <a:avLst/>
          </a:prstGeom>
          <a:solidFill>
            <a:srgbClr val="065A8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10M+</a:t>
            </a:r>
            <a:endParaRPr lang="en-US" sz="300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Records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2651760" y="1188720"/>
            <a:ext cx="1828800" cy="1188720"/>
          </a:xfrm>
          <a:prstGeom prst="rect">
            <a:avLst/>
          </a:prstGeom>
          <a:solidFill>
            <a:srgbClr val="065A8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8" name="Text 6"/>
          <p:cNvSpPr/>
          <p:nvPr/>
        </p:nvSpPr>
        <p:spPr>
          <a:xfrm>
            <a:off x="2651760" y="1234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80M+</a:t>
            </a:r>
            <a:endParaRPr lang="en-US" sz="3000"/>
          </a:p>
        </p:txBody>
      </p:sp>
      <p:sp>
        <p:nvSpPr>
          <p:cNvPr id="9" name="Text 7"/>
          <p:cNvSpPr/>
          <p:nvPr/>
        </p:nvSpPr>
        <p:spPr>
          <a:xfrm>
            <a:off x="265176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&amp; Crew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1828800" cy="1188720"/>
          </a:xfrm>
          <a:prstGeom prst="rect">
            <a:avLst/>
          </a:prstGeom>
          <a:solidFill>
            <a:srgbClr val="065A8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11" name="Text 9"/>
          <p:cNvSpPr/>
          <p:nvPr/>
        </p:nvSpPr>
        <p:spPr>
          <a:xfrm>
            <a:off x="4754880" y="1234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1.4M+</a:t>
            </a:r>
            <a:endParaRPr lang="en-US" sz="3000"/>
          </a:p>
        </p:txBody>
      </p:sp>
      <p:sp>
        <p:nvSpPr>
          <p:cNvPr id="12" name="Text 10"/>
          <p:cNvSpPr/>
          <p:nvPr/>
        </p:nvSpPr>
        <p:spPr>
          <a:xfrm>
            <a:off x="475488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Titles</a:t>
            </a:r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6858000" y="1188720"/>
            <a:ext cx="1828800" cy="1188720"/>
          </a:xfrm>
          <a:prstGeom prst="rect">
            <a:avLst/>
          </a:prstGeom>
          <a:solidFill>
            <a:srgbClr val="065A8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14" name="Text 12"/>
          <p:cNvSpPr/>
          <p:nvPr/>
        </p:nvSpPr>
        <p:spPr>
          <a:xfrm>
            <a:off x="6858000" y="1234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000"/>
          </a:p>
        </p:txBody>
      </p:sp>
      <p:sp>
        <p:nvSpPr>
          <p:cNvPr id="15" name="Text 13"/>
          <p:cNvSpPr/>
          <p:nvPr/>
        </p:nvSpPr>
        <p:spPr>
          <a:xfrm>
            <a:off x="685800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Tables</a:t>
            </a:r>
            <a:endParaRPr lang="en-US" sz="120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51760"/>
          <a:ext cx="8046720" cy="17830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Fields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title.basics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title metadata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titleType, genres, runtime, year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title.ratings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Audience ratings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averageRating, numVotes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title.crew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Directors &amp; writers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directors, writers (nconst IDs)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title.principals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Cast &amp; key crew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nconst, category, characters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name.basics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 metadata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primaryName, birthYear, knownForTitles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4D5CAD-1CB5-64E2-6624-A0EFF89C3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4CB6801-5AFA-A781-B99E-1C761296CB86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65E7448-3F97-4B1D-1CED-74618F9586D5}"/>
              </a:ext>
            </a:extLst>
          </p:cNvPr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Dataset: IEEE </a:t>
            </a:r>
            <a:r>
              <a:rPr lang="en-US" sz="3000" b="1" err="1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DataPort</a:t>
            </a:r>
            <a:r>
              <a:rPr lang="en-US" sz="3000" b="1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(IMDb Users' Ratings Dataset)</a:t>
            </a:r>
            <a:endParaRPr lang="en-US" sz="30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07BCE7F-CA70-C8FC-C5CA-0E04128BD963}"/>
              </a:ext>
            </a:extLst>
          </p:cNvPr>
          <p:cNvSpPr/>
          <p:nvPr/>
        </p:nvSpPr>
        <p:spPr>
          <a:xfrm>
            <a:off x="548640" y="1188720"/>
            <a:ext cx="1828800" cy="1188720"/>
          </a:xfrm>
          <a:prstGeom prst="rect">
            <a:avLst/>
          </a:prstGeom>
          <a:solidFill>
            <a:srgbClr val="065A8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8260C9B-37C3-E9E1-C880-17B64035601D}"/>
              </a:ext>
            </a:extLst>
          </p:cNvPr>
          <p:cNvSpPr/>
          <p:nvPr/>
        </p:nvSpPr>
        <p:spPr>
          <a:xfrm>
            <a:off x="548640" y="1234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4.67M+</a:t>
            </a:r>
            <a:endParaRPr lang="en-US" sz="3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8B63721-A040-90FF-1EBB-8530C9BC9DA1}"/>
              </a:ext>
            </a:extLst>
          </p:cNvPr>
          <p:cNvSpPr/>
          <p:nvPr/>
        </p:nvSpPr>
        <p:spPr>
          <a:xfrm>
            <a:off x="54864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Ratings</a:t>
            </a:r>
            <a:endParaRPr lang="en-US" sz="12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0E06C1D-FCF1-79E7-96C1-1F279C5389A6}"/>
              </a:ext>
            </a:extLst>
          </p:cNvPr>
          <p:cNvSpPr/>
          <p:nvPr/>
        </p:nvSpPr>
        <p:spPr>
          <a:xfrm>
            <a:off x="2651760" y="1188720"/>
            <a:ext cx="1828800" cy="1188720"/>
          </a:xfrm>
          <a:prstGeom prst="rect">
            <a:avLst/>
          </a:prstGeom>
          <a:solidFill>
            <a:srgbClr val="065A8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0BF67E1-8793-9242-AABA-8050407846FB}"/>
              </a:ext>
            </a:extLst>
          </p:cNvPr>
          <p:cNvSpPr/>
          <p:nvPr/>
        </p:nvSpPr>
        <p:spPr>
          <a:xfrm>
            <a:off x="2651760" y="1234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1.49M+</a:t>
            </a:r>
            <a:endParaRPr lang="en-US" sz="30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F4BD1CA-4C89-6222-2800-099B6A3D885A}"/>
              </a:ext>
            </a:extLst>
          </p:cNvPr>
          <p:cNvSpPr/>
          <p:nvPr/>
        </p:nvSpPr>
        <p:spPr>
          <a:xfrm>
            <a:off x="265176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Users</a:t>
            </a:r>
            <a:endParaRPr lang="en-US" sz="12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F51642A-A4B1-8AEF-D4C1-7785677686AD}"/>
              </a:ext>
            </a:extLst>
          </p:cNvPr>
          <p:cNvSpPr/>
          <p:nvPr/>
        </p:nvSpPr>
        <p:spPr>
          <a:xfrm>
            <a:off x="4754880" y="1188720"/>
            <a:ext cx="1828800" cy="1188720"/>
          </a:xfrm>
          <a:prstGeom prst="rect">
            <a:avLst/>
          </a:prstGeom>
          <a:solidFill>
            <a:srgbClr val="065A8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216F0CA-2DB4-85BD-FC3F-28088D28F12C}"/>
              </a:ext>
            </a:extLst>
          </p:cNvPr>
          <p:cNvSpPr/>
          <p:nvPr/>
        </p:nvSpPr>
        <p:spPr>
          <a:xfrm>
            <a:off x="4754880" y="1234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351K+</a:t>
            </a:r>
            <a:endParaRPr lang="en-US" sz="30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C6814B4-AE5E-69E6-A080-BCED6D075684}"/>
              </a:ext>
            </a:extLst>
          </p:cNvPr>
          <p:cNvSpPr/>
          <p:nvPr/>
        </p:nvSpPr>
        <p:spPr>
          <a:xfrm>
            <a:off x="475488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Titles</a:t>
            </a:r>
            <a:endParaRPr lang="en-US" sz="12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0C71270-9A3C-2F54-9EE5-46C649DF214D}"/>
              </a:ext>
            </a:extLst>
          </p:cNvPr>
          <p:cNvSpPr/>
          <p:nvPr/>
        </p:nvSpPr>
        <p:spPr>
          <a:xfrm>
            <a:off x="6858000" y="1188720"/>
            <a:ext cx="1828800" cy="1188720"/>
          </a:xfrm>
          <a:prstGeom prst="rect">
            <a:avLst/>
          </a:prstGeom>
          <a:solidFill>
            <a:srgbClr val="065A8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70D37C7-DD75-0E7D-1473-DD9125A1013D}"/>
              </a:ext>
            </a:extLst>
          </p:cNvPr>
          <p:cNvSpPr/>
          <p:nvPr/>
        </p:nvSpPr>
        <p:spPr>
          <a:xfrm>
            <a:off x="6858000" y="1234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4B4A4C5-7BCD-85A6-A3DC-6AFB435A2B6A}"/>
              </a:ext>
            </a:extLst>
          </p:cNvPr>
          <p:cNvSpPr/>
          <p:nvPr/>
        </p:nvSpPr>
        <p:spPr>
          <a:xfrm>
            <a:off x="685800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File</a:t>
            </a:r>
            <a:endParaRPr lang="en-US" sz="1200"/>
          </a:p>
        </p:txBody>
      </p:sp>
      <p:graphicFrame>
        <p:nvGraphicFramePr>
          <p:cNvPr id="16" name="Table 0">
            <a:extLst>
              <a:ext uri="{FF2B5EF4-FFF2-40B4-BE49-F238E27FC236}">
                <a16:creationId xmlns:a16="http://schemas.microsoft.com/office/drawing/2014/main" id="{63300D31-5C9C-52AC-2032-11B767121C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8468766"/>
              </p:ext>
            </p:extLst>
          </p:nvPr>
        </p:nvGraphicFramePr>
        <p:xfrm>
          <a:off x="548640" y="2651760"/>
          <a:ext cx="8046720" cy="20269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/ Step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Fields &amp; Metrics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latin typeface="Calibri" charset="0"/>
                          <a:ea typeface="Calibri" charset="0"/>
                          <a:cs typeface="Calibri" charset="0"/>
                        </a:rPr>
                        <a:t>Raw Data (</a:t>
                      </a:r>
                      <a:r>
                        <a:rPr lang="en-US" sz="1100" err="1">
                          <a:latin typeface="Calibri" charset="0"/>
                          <a:ea typeface="Calibri" charset="0"/>
                          <a:cs typeface="Calibri" charset="0"/>
                        </a:rPr>
                        <a:t>Dataset.npy</a:t>
                      </a:r>
                      <a:r>
                        <a:rPr lang="en-US" sz="1100">
                          <a:latin typeface="Calibri" charset="0"/>
                          <a:ea typeface="Calibri" charset="0"/>
                          <a:cs typeface="Calibri" charset="0"/>
                        </a:rPr>
                        <a:t>)</a:t>
                      </a: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comma-separated user rating logs stored in a NumPy array.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err="1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userId</a:t>
                      </a: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100" err="1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titleId</a:t>
                      </a: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100" err="1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userRating</a:t>
                      </a: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date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100"/>
                        <a:t>Parsed Ratings Table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/>
                        <a:t>Cleaned tabular format mapping individual user scores to specific IMDb titles. 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err="1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userId</a:t>
                      </a: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100" err="1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titleId</a:t>
                      </a: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100" err="1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userRating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100"/>
                        <a:t>Title Aggregations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/>
                        <a:t>Statistical features grouped by title to measure overall audience reception. 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err="1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userRatingCount</a:t>
                      </a: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100" err="1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userRatingMean</a:t>
                      </a: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100" err="1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userRatingStd</a:t>
                      </a: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100" err="1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userRatingRange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100"/>
                        <a:t>Extreme Ratings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/>
                        <a:t>Metrics capturing highly polarizing user scores (ratings ≤ 2 or ≥ 9). 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err="1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extremeRatingCount</a:t>
                      </a: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100" err="1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extremeRatingRatio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4425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Pipeline Overview</a:t>
            </a:r>
            <a:endParaRPr lang="en-US" sz="3400"/>
          </a:p>
        </p:txBody>
      </p:sp>
      <p:sp>
        <p:nvSpPr>
          <p:cNvPr id="5" name="Shape 2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6" name="Text 3"/>
          <p:cNvSpPr/>
          <p:nvPr/>
        </p:nvSpPr>
        <p:spPr>
          <a:xfrm>
            <a:off x="731520" y="4251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1400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</a:t>
            </a:r>
            <a:r>
              <a:rPr lang="en-US" sz="1200" err="1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r>
              <a:rPr lang="en-US" sz="120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Spark SQL  •  Spark </a:t>
            </a:r>
            <a:r>
              <a:rPr lang="en-US" sz="1200" err="1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MLlib</a:t>
            </a:r>
            <a:r>
              <a:rPr lang="en-US" sz="120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Python  •  </a:t>
            </a:r>
            <a:r>
              <a:rPr lang="en-US" sz="1200" err="1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</a:t>
            </a:r>
            <a:r>
              <a:rPr lang="en-US" sz="120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Notebooks</a:t>
            </a:r>
            <a:endParaRPr lang="en-US" sz="12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CF1005-6723-3C77-B193-EDF5733C15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628" b="30728"/>
          <a:stretch>
            <a:fillRect/>
          </a:stretch>
        </p:blipFill>
        <p:spPr>
          <a:xfrm>
            <a:off x="0" y="1504950"/>
            <a:ext cx="9144000" cy="20288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</a:t>
            </a:r>
            <a:endParaRPr lang="en-US" sz="340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24688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246888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6" name="Text 4"/>
          <p:cNvSpPr/>
          <p:nvPr/>
        </p:nvSpPr>
        <p:spPr>
          <a:xfrm>
            <a:off x="868680" y="121615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Title Metadata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960120" y="1828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indicators (one-hot)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960120" y="2240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(minutes)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96012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type (movie/series)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96012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period / decade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3520440" y="1188720"/>
            <a:ext cx="24688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12" name="Shape 10"/>
          <p:cNvSpPr/>
          <p:nvPr/>
        </p:nvSpPr>
        <p:spPr>
          <a:xfrm>
            <a:off x="3520440" y="1188720"/>
            <a:ext cx="246888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3" name="Text 11"/>
          <p:cNvSpPr/>
          <p:nvPr/>
        </p:nvSpPr>
        <p:spPr>
          <a:xfrm>
            <a:off x="3657600" y="121615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Crew Statistics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3749040" y="1828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avg. rating history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3749040" y="2240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title count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374904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avg. rating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374904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SzPct val="100000"/>
              <a:buFont typeface="Arial"/>
              <a:buChar char="•"/>
            </a:pPr>
            <a:r>
              <a:rPr lang="en-US" sz="1200">
                <a:solidFill>
                  <a:srgbClr val="1A1A2E"/>
                </a:solidFill>
                <a:ea typeface="+mn-lt"/>
                <a:cs typeface="+mn-lt"/>
              </a:rPr>
              <a:t>Total cast size (</a:t>
            </a:r>
            <a:r>
              <a:rPr lang="en-US" sz="1200" err="1">
                <a:solidFill>
                  <a:srgbClr val="1A1A2E"/>
                </a:solidFill>
                <a:ea typeface="+mn-lt"/>
                <a:cs typeface="+mn-lt"/>
              </a:rPr>
              <a:t>numPrincipals</a:t>
            </a:r>
            <a:r>
              <a:rPr lang="en-US" sz="1200">
                <a:solidFill>
                  <a:srgbClr val="1A1A2E"/>
                </a:solidFill>
                <a:ea typeface="+mn-lt"/>
                <a:cs typeface="+mn-lt"/>
              </a:rPr>
              <a:t>)</a:t>
            </a:r>
            <a:endParaRPr lang="en-US" sz="12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309360" y="1188720"/>
            <a:ext cx="24688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19" name="Shape 17"/>
          <p:cNvSpPr/>
          <p:nvPr/>
        </p:nvSpPr>
        <p:spPr>
          <a:xfrm>
            <a:off x="6309360" y="1188720"/>
            <a:ext cx="246888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20" name="Text 18"/>
          <p:cNvSpPr/>
          <p:nvPr/>
        </p:nvSpPr>
        <p:spPr>
          <a:xfrm>
            <a:off x="6446520" y="121615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Engagement Signals</a:t>
            </a:r>
            <a:endParaRPr lang="en-US" sz="1500"/>
          </a:p>
        </p:txBody>
      </p:sp>
      <p:sp>
        <p:nvSpPr>
          <p:cNvPr id="21" name="Text 19"/>
          <p:cNvSpPr/>
          <p:nvPr/>
        </p:nvSpPr>
        <p:spPr>
          <a:xfrm>
            <a:off x="6537960" y="1828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votes (log)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6537960" y="2240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Arial"/>
              <a:buChar char="•"/>
            </a:pPr>
            <a:r>
              <a:rPr lang="en-US" sz="1200">
                <a:solidFill>
                  <a:srgbClr val="1A1A2E"/>
                </a:solidFill>
                <a:ea typeface="+mn-lt"/>
                <a:cs typeface="+mn-lt"/>
              </a:rPr>
              <a:t>Individual user rating average</a:t>
            </a:r>
            <a:endParaRPr lang="en-US" sz="120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3796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Arial"/>
              <a:buChar char="•"/>
            </a:pPr>
            <a:r>
              <a:rPr lang="en-US" sz="1200">
                <a:solidFill>
                  <a:srgbClr val="1A1A2E"/>
                </a:solidFill>
                <a:ea typeface="+mn-lt"/>
                <a:cs typeface="+mn-lt"/>
              </a:rPr>
              <a:t>Extreme rating ratio</a:t>
            </a:r>
            <a:endParaRPr lang="en-US" sz="12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Modeling</a:t>
            </a:r>
            <a:endParaRPr lang="en-US" sz="3400"/>
          </a:p>
        </p:txBody>
      </p:sp>
      <p:sp>
        <p:nvSpPr>
          <p:cNvPr id="4" name="Text 2"/>
          <p:cNvSpPr/>
          <p:nvPr/>
        </p:nvSpPr>
        <p:spPr>
          <a:xfrm>
            <a:off x="731520" y="94183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models to estimate audience reception — predicting ratings directly or classifying into rating groups.</a:t>
            </a:r>
            <a:endParaRPr lang="en-US" sz="140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762688"/>
              </p:ext>
            </p:extLst>
          </p:nvPr>
        </p:nvGraphicFramePr>
        <p:xfrm>
          <a:off x="548640" y="1467612"/>
          <a:ext cx="8229600" cy="1664208"/>
        </p:xfrm>
        <a:graphic>
          <a:graphicData uri="http://schemas.openxmlformats.org/drawingml/2006/table">
            <a:tbl>
              <a:tblPr/>
              <a:tblGrid>
                <a:gridCol w="1692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07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4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1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Interpretable, fast baseline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rating prediction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8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200"/>
                        <a:t>Regression / Classification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 non-linear patterns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200"/>
                        <a:t>Rating prediction &amp; tier classification 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Robust, handles noise well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prediction model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200"/>
                        <a:t>GBT Regressor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200"/>
                        <a:t>Ensemble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200"/>
                        <a:t>High accuracy, minimizes errors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200"/>
                        <a:t>Advanced rating prediction 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9886218"/>
                  </a:ext>
                </a:extLst>
              </a:tr>
            </a:tbl>
          </a:graphicData>
        </a:graphic>
      </p:graphicFrame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473319113"/>
              </p:ext>
            </p:extLst>
          </p:nvPr>
        </p:nvGraphicFramePr>
        <p:xfrm>
          <a:off x="548640" y="3200400"/>
          <a:ext cx="804672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F14699-40A7-484D-7D33-41A1CBDE9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3ABA0E3-F334-102C-C34C-DF8386FF58E7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400F7D9-A2C6-CEC7-5E04-F9694ED921CB}"/>
              </a:ext>
            </a:extLst>
          </p:cNvPr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Modeling</a:t>
            </a:r>
            <a:endParaRPr lang="en-US" sz="3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66A85A3-46F3-2AED-2BFE-F7371A42903C}"/>
              </a:ext>
            </a:extLst>
          </p:cNvPr>
          <p:cNvSpPr/>
          <p:nvPr/>
        </p:nvSpPr>
        <p:spPr>
          <a:xfrm>
            <a:off x="731520" y="94183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models to estimate audience reception — predicting ratings directly or classifying into rating groups.</a:t>
            </a:r>
            <a:endParaRPr lang="en-US" sz="1400"/>
          </a:p>
        </p:txBody>
      </p:sp>
      <p:graphicFrame>
        <p:nvGraphicFramePr>
          <p:cNvPr id="12" name="Table 0">
            <a:extLst>
              <a:ext uri="{FF2B5EF4-FFF2-40B4-BE49-F238E27FC236}">
                <a16:creationId xmlns:a16="http://schemas.microsoft.com/office/drawing/2014/main" id="{22DEFC56-7F3B-47C1-9F41-43FEB91AFD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8594024"/>
              </p:ext>
            </p:extLst>
          </p:nvPr>
        </p:nvGraphicFramePr>
        <p:xfrm>
          <a:off x="548640" y="1467612"/>
          <a:ext cx="8229600" cy="1316736"/>
        </p:xfrm>
        <a:graphic>
          <a:graphicData uri="http://schemas.openxmlformats.org/drawingml/2006/table">
            <a:tbl>
              <a:tblPr/>
              <a:tblGrid>
                <a:gridCol w="1692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07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4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1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Interpretable, fast baseline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rating prediction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8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200"/>
                        <a:t>Regression / Classification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 non-linear patterns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200"/>
                        <a:t>Rating prediction &amp; tier classification 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Robust, handles noise well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prediction model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Chart 0">
            <a:extLst>
              <a:ext uri="{FF2B5EF4-FFF2-40B4-BE49-F238E27FC236}">
                <a16:creationId xmlns:a16="http://schemas.microsoft.com/office/drawing/2014/main" id="{7FE41CA2-CA9E-B236-2A7B-AC59781F10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2838605"/>
              </p:ext>
            </p:extLst>
          </p:nvPr>
        </p:nvGraphicFramePr>
        <p:xfrm>
          <a:off x="548640" y="2965939"/>
          <a:ext cx="8046720" cy="20632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906881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752822-F846-7B9A-12E0-5DBCC23EF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DFB8B12-DF19-6F53-564F-7CD852383092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70DEB55-D2B8-E301-4C6A-0170750C7BE2}"/>
              </a:ext>
            </a:extLst>
          </p:cNvPr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Clustering &amp; Segmentation</a:t>
            </a:r>
            <a:endParaRPr lang="en-US" sz="34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0161B3-8F1C-30AA-BDE3-E3617DDE77CB}"/>
              </a:ext>
            </a:extLst>
          </p:cNvPr>
          <p:cNvSpPr txBox="1"/>
          <p:nvPr/>
        </p:nvSpPr>
        <p:spPr>
          <a:xfrm>
            <a:off x="463296" y="1109472"/>
            <a:ext cx="75468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chemeClr val="tx2"/>
                </a:solidFill>
              </a:rPr>
              <a:t>1. By Quality &amp; Prestige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i="1" dirty="0">
                <a:solidFill>
                  <a:schemeClr val="tx2"/>
                </a:solidFill>
              </a:rPr>
              <a:t>(Director Record + Ratings)</a:t>
            </a:r>
            <a:endParaRPr lang="en-US" sz="1600" dirty="0">
              <a:solidFill>
                <a:schemeClr val="tx2"/>
              </a:solidFill>
            </a:endParaRPr>
          </a:p>
          <a:p>
            <a:endParaRPr lang="en-US" sz="1600" dirty="0">
              <a:solidFill>
                <a:schemeClr val="tx2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E7A5B39-B4F0-744F-8F5E-EE63CF0EE02A}"/>
              </a:ext>
            </a:extLst>
          </p:cNvPr>
          <p:cNvGrpSpPr/>
          <p:nvPr/>
        </p:nvGrpSpPr>
        <p:grpSpPr>
          <a:xfrm>
            <a:off x="463296" y="2190973"/>
            <a:ext cx="3657600" cy="1234440"/>
            <a:chOff x="731520" y="2011680"/>
            <a:chExt cx="3657600" cy="1234440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C01C733E-690F-AE47-9E32-83BD5D16A660}"/>
                </a:ext>
              </a:extLst>
            </p:cNvPr>
            <p:cNvSpPr/>
            <p:nvPr/>
          </p:nvSpPr>
          <p:spPr>
            <a:xfrm>
              <a:off x="731520" y="2011680"/>
              <a:ext cx="3657600" cy="12344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001" dirty="0"/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1FCD200D-B8C4-00AF-9CC9-90008FE0B350}"/>
                </a:ext>
              </a:extLst>
            </p:cNvPr>
            <p:cNvSpPr/>
            <p:nvPr/>
          </p:nvSpPr>
          <p:spPr>
            <a:xfrm>
              <a:off x="914400" y="2103120"/>
              <a:ext cx="1371600" cy="274320"/>
            </a:xfrm>
            <a:prstGeom prst="rect">
              <a:avLst/>
            </a:prstGeom>
            <a:solidFill>
              <a:srgbClr val="1C7293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Cluster A</a:t>
              </a:r>
              <a:endParaRPr lang="en-US" sz="1100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26E36CB1-F573-A0EA-FAD7-D05AF5DBF193}"/>
                </a:ext>
              </a:extLst>
            </p:cNvPr>
            <p:cNvSpPr/>
            <p:nvPr/>
          </p:nvSpPr>
          <p:spPr>
            <a:xfrm>
              <a:off x="914400" y="2560320"/>
              <a:ext cx="3291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dirty="0">
                  <a:solidFill>
                    <a:srgbClr val="5A6B7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Represents </a:t>
              </a:r>
              <a:r>
                <a:rPr lang="en-US" sz="1200" dirty="0">
                  <a:solidFill>
                    <a:schemeClr val="tx2"/>
                  </a:solidFill>
                </a:rPr>
                <a:t>High-quality, contemporary theater releases (127m, 6.68 Rating).</a:t>
              </a:r>
              <a:endParaRPr lang="en-US" sz="120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41E8F24-97B8-285B-D160-20BDC023EE97}"/>
              </a:ext>
            </a:extLst>
          </p:cNvPr>
          <p:cNvGrpSpPr/>
          <p:nvPr/>
        </p:nvGrpSpPr>
        <p:grpSpPr>
          <a:xfrm>
            <a:off x="4395216" y="2190973"/>
            <a:ext cx="3657600" cy="1234440"/>
            <a:chOff x="4754880" y="2011680"/>
            <a:chExt cx="3657600" cy="1234440"/>
          </a:xfrm>
        </p:grpSpPr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3C034F57-8906-52AC-C46F-45F23EE837F2}"/>
                </a:ext>
              </a:extLst>
            </p:cNvPr>
            <p:cNvSpPr/>
            <p:nvPr/>
          </p:nvSpPr>
          <p:spPr>
            <a:xfrm>
              <a:off x="4754880" y="2011680"/>
              <a:ext cx="3657600" cy="12344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001"/>
            </a:p>
          </p:txBody>
        </p:sp>
        <p:sp>
          <p:nvSpPr>
            <p:cNvPr id="11" name="Text 8">
              <a:extLst>
                <a:ext uri="{FF2B5EF4-FFF2-40B4-BE49-F238E27FC236}">
                  <a16:creationId xmlns:a16="http://schemas.microsoft.com/office/drawing/2014/main" id="{608154B6-138E-4D78-FC44-CD9E1D4BB8DC}"/>
                </a:ext>
              </a:extLst>
            </p:cNvPr>
            <p:cNvSpPr/>
            <p:nvPr/>
          </p:nvSpPr>
          <p:spPr>
            <a:xfrm>
              <a:off x="4937760" y="2103120"/>
              <a:ext cx="1371600" cy="274320"/>
            </a:xfrm>
            <a:prstGeom prst="rect">
              <a:avLst/>
            </a:prstGeom>
            <a:solidFill>
              <a:srgbClr val="1C7293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Cluster B</a:t>
              </a:r>
              <a:endParaRPr lang="en-US" sz="1100" dirty="0"/>
            </a:p>
          </p:txBody>
        </p:sp>
        <p:sp>
          <p:nvSpPr>
            <p:cNvPr id="12" name="Text 9">
              <a:extLst>
                <a:ext uri="{FF2B5EF4-FFF2-40B4-BE49-F238E27FC236}">
                  <a16:creationId xmlns:a16="http://schemas.microsoft.com/office/drawing/2014/main" id="{033F83B1-6EA3-CEEA-8CE5-EB9E1B3E61FF}"/>
                </a:ext>
              </a:extLst>
            </p:cNvPr>
            <p:cNvSpPr/>
            <p:nvPr/>
          </p:nvSpPr>
          <p:spPr>
            <a:xfrm>
              <a:off x="6446520" y="2103120"/>
              <a:ext cx="19659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65A82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The Classics</a:t>
              </a:r>
              <a:endParaRPr lang="en-US" sz="1400" dirty="0"/>
            </a:p>
          </p:txBody>
        </p:sp>
        <p:sp>
          <p:nvSpPr>
            <p:cNvPr id="13" name="Text 10">
              <a:extLst>
                <a:ext uri="{FF2B5EF4-FFF2-40B4-BE49-F238E27FC236}">
                  <a16:creationId xmlns:a16="http://schemas.microsoft.com/office/drawing/2014/main" id="{4FA78DE8-59B1-6125-9E6C-4BC50F65759C}"/>
                </a:ext>
              </a:extLst>
            </p:cNvPr>
            <p:cNvSpPr/>
            <p:nvPr/>
          </p:nvSpPr>
          <p:spPr>
            <a:xfrm>
              <a:off x="4937760" y="2560320"/>
              <a:ext cx="3291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dirty="0">
                  <a:solidFill>
                    <a:srgbClr val="5A6B7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Represents </a:t>
              </a:r>
              <a:r>
                <a:rPr lang="en-US" sz="1200" dirty="0">
                  <a:solidFill>
                    <a:schemeClr val="tx2"/>
                  </a:solidFill>
                </a:rPr>
                <a:t>Acclaimed "Golden Age" films (Avg. Year: 1967).</a:t>
              </a:r>
              <a:endParaRPr lang="en-US" sz="12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CEF6971-4A86-2B7B-415D-0AC4257E8A30}"/>
              </a:ext>
            </a:extLst>
          </p:cNvPr>
          <p:cNvGrpSpPr/>
          <p:nvPr/>
        </p:nvGrpSpPr>
        <p:grpSpPr>
          <a:xfrm>
            <a:off x="463296" y="3543300"/>
            <a:ext cx="3657600" cy="1234440"/>
            <a:chOff x="731520" y="2011680"/>
            <a:chExt cx="3657600" cy="1234440"/>
          </a:xfrm>
        </p:grpSpPr>
        <p:sp>
          <p:nvSpPr>
            <p:cNvPr id="15" name="Shape 3">
              <a:extLst>
                <a:ext uri="{FF2B5EF4-FFF2-40B4-BE49-F238E27FC236}">
                  <a16:creationId xmlns:a16="http://schemas.microsoft.com/office/drawing/2014/main" id="{6456BF74-BF67-C2F8-57F0-ACB12BC9FA8E}"/>
                </a:ext>
              </a:extLst>
            </p:cNvPr>
            <p:cNvSpPr/>
            <p:nvPr/>
          </p:nvSpPr>
          <p:spPr>
            <a:xfrm>
              <a:off x="731520" y="2011680"/>
              <a:ext cx="3657600" cy="12344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001" dirty="0"/>
            </a:p>
          </p:txBody>
        </p:sp>
        <p:sp>
          <p:nvSpPr>
            <p:cNvPr id="16" name="Text 4">
              <a:extLst>
                <a:ext uri="{FF2B5EF4-FFF2-40B4-BE49-F238E27FC236}">
                  <a16:creationId xmlns:a16="http://schemas.microsoft.com/office/drawing/2014/main" id="{C37A717B-44FC-3E74-30BE-DB2A27E57D4F}"/>
                </a:ext>
              </a:extLst>
            </p:cNvPr>
            <p:cNvSpPr/>
            <p:nvPr/>
          </p:nvSpPr>
          <p:spPr>
            <a:xfrm>
              <a:off x="914400" y="2103120"/>
              <a:ext cx="1371600" cy="274320"/>
            </a:xfrm>
            <a:prstGeom prst="rect">
              <a:avLst/>
            </a:prstGeom>
            <a:solidFill>
              <a:srgbClr val="1C7293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Cluster C</a:t>
              </a:r>
              <a:endParaRPr lang="en-US" sz="1100" dirty="0"/>
            </a:p>
          </p:txBody>
        </p:sp>
        <p:sp>
          <p:nvSpPr>
            <p:cNvPr id="17" name="Text 5">
              <a:extLst>
                <a:ext uri="{FF2B5EF4-FFF2-40B4-BE49-F238E27FC236}">
                  <a16:creationId xmlns:a16="http://schemas.microsoft.com/office/drawing/2014/main" id="{1A9AA844-8CAF-8164-8E23-BC8B0068E05B}"/>
                </a:ext>
              </a:extLst>
            </p:cNvPr>
            <p:cNvSpPr/>
            <p:nvPr/>
          </p:nvSpPr>
          <p:spPr>
            <a:xfrm>
              <a:off x="2423160" y="210312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65A82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"B-Movie" Flops</a:t>
              </a:r>
              <a:endParaRPr lang="en-US" sz="1400" dirty="0"/>
            </a:p>
          </p:txBody>
        </p:sp>
        <p:sp>
          <p:nvSpPr>
            <p:cNvPr id="18" name="Text 6">
              <a:extLst>
                <a:ext uri="{FF2B5EF4-FFF2-40B4-BE49-F238E27FC236}">
                  <a16:creationId xmlns:a16="http://schemas.microsoft.com/office/drawing/2014/main" id="{35E81E55-617A-B136-EDE5-F4CEE5F10553}"/>
                </a:ext>
              </a:extLst>
            </p:cNvPr>
            <p:cNvSpPr/>
            <p:nvPr/>
          </p:nvSpPr>
          <p:spPr>
            <a:xfrm>
              <a:off x="914400" y="2560320"/>
              <a:ext cx="3291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A6B7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Lower-tier modern content to avoid (4.51 Rating).</a:t>
              </a:r>
              <a:endParaRPr lang="en-US" sz="1200" dirty="0"/>
            </a:p>
          </p:txBody>
        </p:sp>
      </p:grpSp>
      <p:sp>
        <p:nvSpPr>
          <p:cNvPr id="24" name="Text 5">
            <a:extLst>
              <a:ext uri="{FF2B5EF4-FFF2-40B4-BE49-F238E27FC236}">
                <a16:creationId xmlns:a16="http://schemas.microsoft.com/office/drawing/2014/main" id="{BA363293-1124-116D-4536-FC5C1974D728}"/>
              </a:ext>
            </a:extLst>
          </p:cNvPr>
          <p:cNvSpPr/>
          <p:nvPr/>
        </p:nvSpPr>
        <p:spPr>
          <a:xfrm>
            <a:off x="2086356" y="2282413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Modern Prestige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33655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2B122E-436B-B731-7BD7-0D9BF1286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80157AF-12C2-A900-C7B4-1E4443A5FD47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8929509-6F19-994B-6007-7660E65A5CC6}"/>
              </a:ext>
            </a:extLst>
          </p:cNvPr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Clustering &amp; Segmentation</a:t>
            </a:r>
            <a:endParaRPr lang="en-US" sz="34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398983-C50F-DAFB-0F9A-9487E2EFBD51}"/>
              </a:ext>
            </a:extLst>
          </p:cNvPr>
          <p:cNvSpPr txBox="1"/>
          <p:nvPr/>
        </p:nvSpPr>
        <p:spPr>
          <a:xfrm>
            <a:off x="463296" y="1109472"/>
            <a:ext cx="75468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chemeClr val="tx2"/>
                </a:solidFill>
              </a:rPr>
              <a:t>2. By Production Format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i="1" dirty="0">
                <a:solidFill>
                  <a:schemeClr val="tx2"/>
                </a:solidFill>
              </a:rPr>
              <a:t>(Runtime + num role types)</a:t>
            </a:r>
            <a:endParaRPr lang="en-US" sz="1600" dirty="0">
              <a:solidFill>
                <a:schemeClr val="tx2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7AABAC2-C0CA-9B75-5B56-02073882F2DD}"/>
              </a:ext>
            </a:extLst>
          </p:cNvPr>
          <p:cNvGrpSpPr/>
          <p:nvPr/>
        </p:nvGrpSpPr>
        <p:grpSpPr>
          <a:xfrm>
            <a:off x="463296" y="2190973"/>
            <a:ext cx="3657600" cy="1234440"/>
            <a:chOff x="731520" y="2011680"/>
            <a:chExt cx="3657600" cy="1234440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9AAE9574-B03B-0ECF-034E-5ED5C89532CD}"/>
                </a:ext>
              </a:extLst>
            </p:cNvPr>
            <p:cNvSpPr/>
            <p:nvPr/>
          </p:nvSpPr>
          <p:spPr>
            <a:xfrm>
              <a:off x="731520" y="2011680"/>
              <a:ext cx="3657600" cy="12344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001" dirty="0"/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91C8A5F4-3EB2-5A23-A668-853032DB9ACF}"/>
                </a:ext>
              </a:extLst>
            </p:cNvPr>
            <p:cNvSpPr/>
            <p:nvPr/>
          </p:nvSpPr>
          <p:spPr>
            <a:xfrm>
              <a:off x="914400" y="2103120"/>
              <a:ext cx="1371600" cy="274320"/>
            </a:xfrm>
            <a:prstGeom prst="rect">
              <a:avLst/>
            </a:prstGeom>
            <a:solidFill>
              <a:srgbClr val="1C7293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Cluster A</a:t>
              </a:r>
              <a:endParaRPr lang="en-US" sz="1100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AEC1D24A-F438-1C85-DDD4-DCC61A5616FF}"/>
                </a:ext>
              </a:extLst>
            </p:cNvPr>
            <p:cNvSpPr/>
            <p:nvPr/>
          </p:nvSpPr>
          <p:spPr>
            <a:xfrm>
              <a:off x="914400" y="2560320"/>
              <a:ext cx="3291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dirty="0">
                  <a:solidFill>
                    <a:schemeClr val="tx2"/>
                  </a:solidFill>
                </a:rPr>
                <a:t>The bulk of the catalog; standard length, below-average quality</a:t>
              </a:r>
              <a:endParaRPr lang="en-US" sz="120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6D4A319-AE4B-B851-0774-BC364F143ED8}"/>
              </a:ext>
            </a:extLst>
          </p:cNvPr>
          <p:cNvGrpSpPr/>
          <p:nvPr/>
        </p:nvGrpSpPr>
        <p:grpSpPr>
          <a:xfrm>
            <a:off x="4395216" y="2190973"/>
            <a:ext cx="3657600" cy="1234440"/>
            <a:chOff x="4754880" y="2011680"/>
            <a:chExt cx="3657600" cy="1234440"/>
          </a:xfrm>
        </p:grpSpPr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07A3AB21-0182-0E47-1170-6A5BE74B7347}"/>
                </a:ext>
              </a:extLst>
            </p:cNvPr>
            <p:cNvSpPr/>
            <p:nvPr/>
          </p:nvSpPr>
          <p:spPr>
            <a:xfrm>
              <a:off x="4754880" y="2011680"/>
              <a:ext cx="3657600" cy="12344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001"/>
            </a:p>
          </p:txBody>
        </p:sp>
        <p:sp>
          <p:nvSpPr>
            <p:cNvPr id="11" name="Text 8">
              <a:extLst>
                <a:ext uri="{FF2B5EF4-FFF2-40B4-BE49-F238E27FC236}">
                  <a16:creationId xmlns:a16="http://schemas.microsoft.com/office/drawing/2014/main" id="{B9396A80-3423-4E81-4355-2036326F7EB1}"/>
                </a:ext>
              </a:extLst>
            </p:cNvPr>
            <p:cNvSpPr/>
            <p:nvPr/>
          </p:nvSpPr>
          <p:spPr>
            <a:xfrm>
              <a:off x="4937760" y="2103120"/>
              <a:ext cx="1371600" cy="274320"/>
            </a:xfrm>
            <a:prstGeom prst="rect">
              <a:avLst/>
            </a:prstGeom>
            <a:solidFill>
              <a:srgbClr val="1C7293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Cluster B</a:t>
              </a:r>
              <a:endParaRPr lang="en-US" sz="1100" dirty="0"/>
            </a:p>
          </p:txBody>
        </p:sp>
        <p:sp>
          <p:nvSpPr>
            <p:cNvPr id="12" name="Text 9">
              <a:extLst>
                <a:ext uri="{FF2B5EF4-FFF2-40B4-BE49-F238E27FC236}">
                  <a16:creationId xmlns:a16="http://schemas.microsoft.com/office/drawing/2014/main" id="{9226C5BB-4AE3-27C1-1507-D9EFDDBBB17C}"/>
                </a:ext>
              </a:extLst>
            </p:cNvPr>
            <p:cNvSpPr/>
            <p:nvPr/>
          </p:nvSpPr>
          <p:spPr>
            <a:xfrm>
              <a:off x="6446520" y="2103120"/>
              <a:ext cx="19659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65A82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TV Series</a:t>
              </a:r>
              <a:endParaRPr lang="en-US" sz="1400" dirty="0"/>
            </a:p>
          </p:txBody>
        </p:sp>
        <p:sp>
          <p:nvSpPr>
            <p:cNvPr id="13" name="Text 10">
              <a:extLst>
                <a:ext uri="{FF2B5EF4-FFF2-40B4-BE49-F238E27FC236}">
                  <a16:creationId xmlns:a16="http://schemas.microsoft.com/office/drawing/2014/main" id="{1B12CEB7-AE91-C4A7-F758-503E90740967}"/>
                </a:ext>
              </a:extLst>
            </p:cNvPr>
            <p:cNvSpPr/>
            <p:nvPr/>
          </p:nvSpPr>
          <p:spPr>
            <a:xfrm>
              <a:off x="4937760" y="2560320"/>
              <a:ext cx="3291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dirty="0">
                  <a:solidFill>
                    <a:schemeClr val="tx2"/>
                  </a:solidFill>
                </a:rPr>
                <a:t>1-hour episodic formats; generally yield higher ratings (6.71).</a:t>
              </a:r>
              <a:endParaRPr lang="en-US" sz="12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5431B90-A02F-0C5E-374C-9EE75F4B7AF8}"/>
              </a:ext>
            </a:extLst>
          </p:cNvPr>
          <p:cNvGrpSpPr/>
          <p:nvPr/>
        </p:nvGrpSpPr>
        <p:grpSpPr>
          <a:xfrm>
            <a:off x="463296" y="3543300"/>
            <a:ext cx="3657600" cy="1234440"/>
            <a:chOff x="731520" y="2011680"/>
            <a:chExt cx="3657600" cy="1234440"/>
          </a:xfrm>
        </p:grpSpPr>
        <p:sp>
          <p:nvSpPr>
            <p:cNvPr id="15" name="Shape 3">
              <a:extLst>
                <a:ext uri="{FF2B5EF4-FFF2-40B4-BE49-F238E27FC236}">
                  <a16:creationId xmlns:a16="http://schemas.microsoft.com/office/drawing/2014/main" id="{B01AD13D-273C-8EF7-6FF1-C4B0A87D1E60}"/>
                </a:ext>
              </a:extLst>
            </p:cNvPr>
            <p:cNvSpPr/>
            <p:nvPr/>
          </p:nvSpPr>
          <p:spPr>
            <a:xfrm>
              <a:off x="731520" y="2011680"/>
              <a:ext cx="3657600" cy="12344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001" dirty="0"/>
            </a:p>
          </p:txBody>
        </p:sp>
        <p:sp>
          <p:nvSpPr>
            <p:cNvPr id="16" name="Text 4">
              <a:extLst>
                <a:ext uri="{FF2B5EF4-FFF2-40B4-BE49-F238E27FC236}">
                  <a16:creationId xmlns:a16="http://schemas.microsoft.com/office/drawing/2014/main" id="{C5B9CFFE-0625-4BE9-D2ED-5B0905A093C5}"/>
                </a:ext>
              </a:extLst>
            </p:cNvPr>
            <p:cNvSpPr/>
            <p:nvPr/>
          </p:nvSpPr>
          <p:spPr>
            <a:xfrm>
              <a:off x="914400" y="2103120"/>
              <a:ext cx="1371600" cy="274320"/>
            </a:xfrm>
            <a:prstGeom prst="rect">
              <a:avLst/>
            </a:prstGeom>
            <a:solidFill>
              <a:srgbClr val="1C7293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Cluster C</a:t>
              </a:r>
              <a:endParaRPr lang="en-US" sz="1100" dirty="0"/>
            </a:p>
          </p:txBody>
        </p:sp>
        <p:sp>
          <p:nvSpPr>
            <p:cNvPr id="17" name="Text 5">
              <a:extLst>
                <a:ext uri="{FF2B5EF4-FFF2-40B4-BE49-F238E27FC236}">
                  <a16:creationId xmlns:a16="http://schemas.microsoft.com/office/drawing/2014/main" id="{0E38D81B-2F0A-FDD9-8497-7EB0634F5E7C}"/>
                </a:ext>
              </a:extLst>
            </p:cNvPr>
            <p:cNvSpPr/>
            <p:nvPr/>
          </p:nvSpPr>
          <p:spPr>
            <a:xfrm>
              <a:off x="2423160" y="210312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65A82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Box Sets</a:t>
              </a:r>
              <a:endParaRPr lang="en-US" sz="1400" dirty="0"/>
            </a:p>
          </p:txBody>
        </p:sp>
        <p:sp>
          <p:nvSpPr>
            <p:cNvPr id="18" name="Text 6">
              <a:extLst>
                <a:ext uri="{FF2B5EF4-FFF2-40B4-BE49-F238E27FC236}">
                  <a16:creationId xmlns:a16="http://schemas.microsoft.com/office/drawing/2014/main" id="{27B36032-E4FB-0B4A-9716-F269BDA80074}"/>
                </a:ext>
              </a:extLst>
            </p:cNvPr>
            <p:cNvSpPr/>
            <p:nvPr/>
          </p:nvSpPr>
          <p:spPr>
            <a:xfrm>
              <a:off x="914400" y="2560320"/>
              <a:ext cx="3291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dirty="0">
                  <a:solidFill>
                    <a:schemeClr val="tx2"/>
                  </a:solidFill>
                </a:rPr>
                <a:t>Multi-part series and extended documentaries (12+ hours).</a:t>
              </a:r>
              <a:endParaRPr lang="en-US" sz="1200" dirty="0"/>
            </a:p>
          </p:txBody>
        </p:sp>
      </p:grpSp>
      <p:sp>
        <p:nvSpPr>
          <p:cNvPr id="24" name="Text 5">
            <a:extLst>
              <a:ext uri="{FF2B5EF4-FFF2-40B4-BE49-F238E27FC236}">
                <a16:creationId xmlns:a16="http://schemas.microsoft.com/office/drawing/2014/main" id="{D17C02E7-0D4A-A287-7467-2723FCF1699F}"/>
              </a:ext>
            </a:extLst>
          </p:cNvPr>
          <p:cNvSpPr/>
          <p:nvPr/>
        </p:nvSpPr>
        <p:spPr>
          <a:xfrm>
            <a:off x="2086356" y="2282413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90-Minute Filler</a:t>
            </a:r>
            <a:endParaRPr lang="en-US" sz="14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F9A8972-03E8-42C2-890D-5D747113988F}"/>
              </a:ext>
            </a:extLst>
          </p:cNvPr>
          <p:cNvGrpSpPr/>
          <p:nvPr/>
        </p:nvGrpSpPr>
        <p:grpSpPr>
          <a:xfrm>
            <a:off x="4395216" y="3543300"/>
            <a:ext cx="3657600" cy="1234440"/>
            <a:chOff x="731520" y="2011680"/>
            <a:chExt cx="3657600" cy="1234440"/>
          </a:xfrm>
        </p:grpSpPr>
        <p:sp>
          <p:nvSpPr>
            <p:cNvPr id="20" name="Shape 3">
              <a:extLst>
                <a:ext uri="{FF2B5EF4-FFF2-40B4-BE49-F238E27FC236}">
                  <a16:creationId xmlns:a16="http://schemas.microsoft.com/office/drawing/2014/main" id="{42A97CD2-D174-799C-041A-FA1BBD7B67A8}"/>
                </a:ext>
              </a:extLst>
            </p:cNvPr>
            <p:cNvSpPr/>
            <p:nvPr/>
          </p:nvSpPr>
          <p:spPr>
            <a:xfrm>
              <a:off x="731520" y="2011680"/>
              <a:ext cx="3657600" cy="12344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001" dirty="0"/>
            </a:p>
          </p:txBody>
        </p:sp>
        <p:sp>
          <p:nvSpPr>
            <p:cNvPr id="21" name="Text 4">
              <a:extLst>
                <a:ext uri="{FF2B5EF4-FFF2-40B4-BE49-F238E27FC236}">
                  <a16:creationId xmlns:a16="http://schemas.microsoft.com/office/drawing/2014/main" id="{F6B3F8FC-1E97-544F-7EAE-492654A86A0E}"/>
                </a:ext>
              </a:extLst>
            </p:cNvPr>
            <p:cNvSpPr/>
            <p:nvPr/>
          </p:nvSpPr>
          <p:spPr>
            <a:xfrm>
              <a:off x="914400" y="2103120"/>
              <a:ext cx="1371600" cy="274320"/>
            </a:xfrm>
            <a:prstGeom prst="rect">
              <a:avLst/>
            </a:prstGeom>
            <a:solidFill>
              <a:srgbClr val="1C7293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Cluster D</a:t>
              </a:r>
              <a:endParaRPr lang="en-US" sz="1100" dirty="0"/>
            </a:p>
          </p:txBody>
        </p:sp>
        <p:sp>
          <p:nvSpPr>
            <p:cNvPr id="22" name="Text 5">
              <a:extLst>
                <a:ext uri="{FF2B5EF4-FFF2-40B4-BE49-F238E27FC236}">
                  <a16:creationId xmlns:a16="http://schemas.microsoft.com/office/drawing/2014/main" id="{CEC66823-CADA-B6B9-8912-A10DBED2C767}"/>
                </a:ext>
              </a:extLst>
            </p:cNvPr>
            <p:cNvSpPr/>
            <p:nvPr/>
          </p:nvSpPr>
          <p:spPr>
            <a:xfrm>
              <a:off x="2423160" y="210312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65A82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Cinema Releases</a:t>
              </a:r>
              <a:endParaRPr lang="en-US" sz="1400" dirty="0"/>
            </a:p>
          </p:txBody>
        </p:sp>
        <p:sp>
          <p:nvSpPr>
            <p:cNvPr id="23" name="Text 6">
              <a:extLst>
                <a:ext uri="{FF2B5EF4-FFF2-40B4-BE49-F238E27FC236}">
                  <a16:creationId xmlns:a16="http://schemas.microsoft.com/office/drawing/2014/main" id="{151C4578-882C-15EA-F479-C9DC6C8CEB2E}"/>
                </a:ext>
              </a:extLst>
            </p:cNvPr>
            <p:cNvSpPr/>
            <p:nvPr/>
          </p:nvSpPr>
          <p:spPr>
            <a:xfrm>
              <a:off x="914400" y="2560320"/>
              <a:ext cx="3291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dirty="0">
                  <a:solidFill>
                    <a:schemeClr val="tx2"/>
                  </a:solidFill>
                </a:rPr>
                <a:t>130-minute average runtime and high vote volumes . Big-budget, feature-length cinema.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27824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DDFC8C-0BEA-2D9C-546B-58F9B159A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7B419DD-C79E-8D7A-2F07-EE0C57C12A9E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4F33FEB-D5B4-2E7E-92FA-CD0986972DB6}"/>
              </a:ext>
            </a:extLst>
          </p:cNvPr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Clustering &amp; Segmentation</a:t>
            </a:r>
            <a:endParaRPr lang="en-US" sz="34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339FAA-D88B-C91C-3590-C3936C01EEDF}"/>
              </a:ext>
            </a:extLst>
          </p:cNvPr>
          <p:cNvSpPr txBox="1"/>
          <p:nvPr/>
        </p:nvSpPr>
        <p:spPr>
          <a:xfrm>
            <a:off x="463296" y="1109472"/>
            <a:ext cx="75468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chemeClr val="tx2"/>
                </a:solidFill>
              </a:rPr>
              <a:t>3. By Audience Reception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i="1" dirty="0">
                <a:solidFill>
                  <a:schemeClr val="tx2"/>
                </a:solidFill>
              </a:rPr>
              <a:t>(Votes + Ratings)</a:t>
            </a:r>
            <a:endParaRPr lang="en-US" sz="1600" dirty="0">
              <a:solidFill>
                <a:schemeClr val="tx2"/>
              </a:solidFill>
            </a:endParaRPr>
          </a:p>
          <a:p>
            <a:endParaRPr lang="en-US" sz="1600" dirty="0">
              <a:solidFill>
                <a:schemeClr val="tx2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46D92C7-EA8D-AEF5-5BA3-72DA865EDC9E}"/>
              </a:ext>
            </a:extLst>
          </p:cNvPr>
          <p:cNvGrpSpPr/>
          <p:nvPr/>
        </p:nvGrpSpPr>
        <p:grpSpPr>
          <a:xfrm>
            <a:off x="463296" y="2190973"/>
            <a:ext cx="3657600" cy="1234440"/>
            <a:chOff x="731520" y="2011680"/>
            <a:chExt cx="3657600" cy="1234440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592EE380-4E46-2BB9-EBD4-B611E9A0D908}"/>
                </a:ext>
              </a:extLst>
            </p:cNvPr>
            <p:cNvSpPr/>
            <p:nvPr/>
          </p:nvSpPr>
          <p:spPr>
            <a:xfrm>
              <a:off x="731520" y="2011680"/>
              <a:ext cx="3657600" cy="12344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001" dirty="0"/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5396D23F-F93F-E15C-1089-94D3D3372430}"/>
                </a:ext>
              </a:extLst>
            </p:cNvPr>
            <p:cNvSpPr/>
            <p:nvPr/>
          </p:nvSpPr>
          <p:spPr>
            <a:xfrm>
              <a:off x="914400" y="2103120"/>
              <a:ext cx="1371600" cy="274320"/>
            </a:xfrm>
            <a:prstGeom prst="rect">
              <a:avLst/>
            </a:prstGeom>
            <a:solidFill>
              <a:srgbClr val="1C7293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Cluster A</a:t>
              </a:r>
              <a:endParaRPr lang="en-US" sz="1100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97D1FD44-55F2-6208-BAC2-2F1A19367150}"/>
                </a:ext>
              </a:extLst>
            </p:cNvPr>
            <p:cNvSpPr/>
            <p:nvPr/>
          </p:nvSpPr>
          <p:spPr>
            <a:xfrm>
              <a:off x="914400" y="2560320"/>
              <a:ext cx="3291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dirty="0">
                  <a:solidFill>
                    <a:schemeClr val="tx2"/>
                  </a:solidFill>
                </a:rPr>
                <a:t>The top 1%; massive engagement and high ratings (7.45).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23CDA55-DFF1-4F34-0EFF-18019B9A32A8}"/>
              </a:ext>
            </a:extLst>
          </p:cNvPr>
          <p:cNvGrpSpPr/>
          <p:nvPr/>
        </p:nvGrpSpPr>
        <p:grpSpPr>
          <a:xfrm>
            <a:off x="4395216" y="2190973"/>
            <a:ext cx="3657600" cy="1234440"/>
            <a:chOff x="4754880" y="2011680"/>
            <a:chExt cx="3657600" cy="1234440"/>
          </a:xfrm>
        </p:grpSpPr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646FF260-3778-173F-D634-004118DB5BC3}"/>
                </a:ext>
              </a:extLst>
            </p:cNvPr>
            <p:cNvSpPr/>
            <p:nvPr/>
          </p:nvSpPr>
          <p:spPr>
            <a:xfrm>
              <a:off x="4754880" y="2011680"/>
              <a:ext cx="3657600" cy="12344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001"/>
            </a:p>
          </p:txBody>
        </p:sp>
        <p:sp>
          <p:nvSpPr>
            <p:cNvPr id="11" name="Text 8">
              <a:extLst>
                <a:ext uri="{FF2B5EF4-FFF2-40B4-BE49-F238E27FC236}">
                  <a16:creationId xmlns:a16="http://schemas.microsoft.com/office/drawing/2014/main" id="{6E99BBE5-B120-A85D-B9B5-28D19450AF4D}"/>
                </a:ext>
              </a:extLst>
            </p:cNvPr>
            <p:cNvSpPr/>
            <p:nvPr/>
          </p:nvSpPr>
          <p:spPr>
            <a:xfrm>
              <a:off x="4937760" y="2103120"/>
              <a:ext cx="1371600" cy="274320"/>
            </a:xfrm>
            <a:prstGeom prst="rect">
              <a:avLst/>
            </a:prstGeom>
            <a:solidFill>
              <a:srgbClr val="1C7293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Cluster B</a:t>
              </a:r>
              <a:endParaRPr lang="en-US" sz="1100" dirty="0"/>
            </a:p>
          </p:txBody>
        </p:sp>
        <p:sp>
          <p:nvSpPr>
            <p:cNvPr id="12" name="Text 9">
              <a:extLst>
                <a:ext uri="{FF2B5EF4-FFF2-40B4-BE49-F238E27FC236}">
                  <a16:creationId xmlns:a16="http://schemas.microsoft.com/office/drawing/2014/main" id="{1B0A17F9-A1EC-36CD-0528-F80673E9FC08}"/>
                </a:ext>
              </a:extLst>
            </p:cNvPr>
            <p:cNvSpPr/>
            <p:nvPr/>
          </p:nvSpPr>
          <p:spPr>
            <a:xfrm>
              <a:off x="6446520" y="2103120"/>
              <a:ext cx="19659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65A82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Niche Masterpieces</a:t>
              </a:r>
              <a:endParaRPr lang="en-US" sz="1400" dirty="0"/>
            </a:p>
          </p:txBody>
        </p:sp>
        <p:sp>
          <p:nvSpPr>
            <p:cNvPr id="13" name="Text 10">
              <a:extLst>
                <a:ext uri="{FF2B5EF4-FFF2-40B4-BE49-F238E27FC236}">
                  <a16:creationId xmlns:a16="http://schemas.microsoft.com/office/drawing/2014/main" id="{0B581E17-2743-D5DB-5B42-D8CC33A52FD4}"/>
                </a:ext>
              </a:extLst>
            </p:cNvPr>
            <p:cNvSpPr/>
            <p:nvPr/>
          </p:nvSpPr>
          <p:spPr>
            <a:xfrm>
              <a:off x="4937760" y="2560320"/>
              <a:ext cx="3291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dirty="0">
                  <a:solidFill>
                    <a:schemeClr val="tx2"/>
                  </a:solidFill>
                </a:rPr>
                <a:t>Exceptional ratings (8.26) but very low mainstream visibility.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8D0F913-199C-212A-194B-4C30C7F92555}"/>
              </a:ext>
            </a:extLst>
          </p:cNvPr>
          <p:cNvGrpSpPr/>
          <p:nvPr/>
        </p:nvGrpSpPr>
        <p:grpSpPr>
          <a:xfrm>
            <a:off x="463296" y="3543300"/>
            <a:ext cx="3657600" cy="1234440"/>
            <a:chOff x="731520" y="2011680"/>
            <a:chExt cx="3657600" cy="1234440"/>
          </a:xfrm>
        </p:grpSpPr>
        <p:sp>
          <p:nvSpPr>
            <p:cNvPr id="15" name="Shape 3">
              <a:extLst>
                <a:ext uri="{FF2B5EF4-FFF2-40B4-BE49-F238E27FC236}">
                  <a16:creationId xmlns:a16="http://schemas.microsoft.com/office/drawing/2014/main" id="{1C2D96BF-B588-9081-56AE-0F7A3BDCCBC1}"/>
                </a:ext>
              </a:extLst>
            </p:cNvPr>
            <p:cNvSpPr/>
            <p:nvPr/>
          </p:nvSpPr>
          <p:spPr>
            <a:xfrm>
              <a:off x="731520" y="2011680"/>
              <a:ext cx="3657600" cy="12344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001" dirty="0"/>
            </a:p>
          </p:txBody>
        </p:sp>
        <p:sp>
          <p:nvSpPr>
            <p:cNvPr id="16" name="Text 4">
              <a:extLst>
                <a:ext uri="{FF2B5EF4-FFF2-40B4-BE49-F238E27FC236}">
                  <a16:creationId xmlns:a16="http://schemas.microsoft.com/office/drawing/2014/main" id="{F852426D-4297-BD8A-AC77-26D1FF03F7D7}"/>
                </a:ext>
              </a:extLst>
            </p:cNvPr>
            <p:cNvSpPr/>
            <p:nvPr/>
          </p:nvSpPr>
          <p:spPr>
            <a:xfrm>
              <a:off x="914400" y="2103120"/>
              <a:ext cx="1371600" cy="274320"/>
            </a:xfrm>
            <a:prstGeom prst="rect">
              <a:avLst/>
            </a:prstGeom>
            <a:solidFill>
              <a:srgbClr val="1C7293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Cluster C</a:t>
              </a:r>
              <a:endParaRPr lang="en-US" sz="1100" dirty="0"/>
            </a:p>
          </p:txBody>
        </p:sp>
        <p:sp>
          <p:nvSpPr>
            <p:cNvPr id="17" name="Text 5">
              <a:extLst>
                <a:ext uri="{FF2B5EF4-FFF2-40B4-BE49-F238E27FC236}">
                  <a16:creationId xmlns:a16="http://schemas.microsoft.com/office/drawing/2014/main" id="{42A54669-D41E-3238-E5E4-1547FB7BE973}"/>
                </a:ext>
              </a:extLst>
            </p:cNvPr>
            <p:cNvSpPr/>
            <p:nvPr/>
          </p:nvSpPr>
          <p:spPr>
            <a:xfrm>
              <a:off x="2423160" y="210312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65A82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The Mainstream</a:t>
              </a:r>
              <a:endParaRPr lang="en-US" sz="1400" dirty="0"/>
            </a:p>
          </p:txBody>
        </p:sp>
        <p:sp>
          <p:nvSpPr>
            <p:cNvPr id="18" name="Text 6">
              <a:extLst>
                <a:ext uri="{FF2B5EF4-FFF2-40B4-BE49-F238E27FC236}">
                  <a16:creationId xmlns:a16="http://schemas.microsoft.com/office/drawing/2014/main" id="{32AE02EA-40E8-426F-F3CD-1C1192747133}"/>
                </a:ext>
              </a:extLst>
            </p:cNvPr>
            <p:cNvSpPr/>
            <p:nvPr/>
          </p:nvSpPr>
          <p:spPr>
            <a:xfrm>
              <a:off x="914400" y="2560320"/>
              <a:ext cx="3291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dirty="0">
                  <a:solidFill>
                    <a:schemeClr val="tx2"/>
                  </a:solidFill>
                </a:rPr>
                <a:t>The majority of titles (~158k) with moderate engagement and average ratings.</a:t>
              </a:r>
              <a:endParaRPr lang="en-US" sz="1200" dirty="0"/>
            </a:p>
          </p:txBody>
        </p:sp>
      </p:grpSp>
      <p:sp>
        <p:nvSpPr>
          <p:cNvPr id="24" name="Text 5">
            <a:extLst>
              <a:ext uri="{FF2B5EF4-FFF2-40B4-BE49-F238E27FC236}">
                <a16:creationId xmlns:a16="http://schemas.microsoft.com/office/drawing/2014/main" id="{78075F53-C7DF-A769-B78B-002C06561DD8}"/>
              </a:ext>
            </a:extLst>
          </p:cNvPr>
          <p:cNvSpPr/>
          <p:nvPr/>
        </p:nvSpPr>
        <p:spPr>
          <a:xfrm>
            <a:off x="2086356" y="2282413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Blockbusters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53976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D1C90F-0E08-A051-00C7-632CED5DE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85B028A-9B05-19D5-799D-6BDF544F79F4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D3501D7-E453-E741-70F1-247452D5BE8A}"/>
              </a:ext>
            </a:extLst>
          </p:cNvPr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Clustering &amp; Segmentation</a:t>
            </a:r>
            <a:endParaRPr lang="en-US" sz="34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ABC8D2-8BCA-A155-E6EC-4B1A6EFBDE58}"/>
              </a:ext>
            </a:extLst>
          </p:cNvPr>
          <p:cNvSpPr txBox="1"/>
          <p:nvPr/>
        </p:nvSpPr>
        <p:spPr>
          <a:xfrm>
            <a:off x="463296" y="1109472"/>
            <a:ext cx="75468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</a:rPr>
              <a:t>4. By Temporal Trends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i="1" dirty="0">
                <a:solidFill>
                  <a:schemeClr val="tx2"/>
                </a:solidFill>
              </a:rPr>
              <a:t>(Release Year + Runtime + Engagement (</a:t>
            </a:r>
            <a:r>
              <a:rPr lang="en-US" sz="1600" i="1" dirty="0" err="1">
                <a:solidFill>
                  <a:schemeClr val="tx2"/>
                </a:solidFill>
              </a:rPr>
              <a:t>numVotes</a:t>
            </a:r>
            <a:r>
              <a:rPr lang="en-US" sz="1600" i="1" dirty="0">
                <a:solidFill>
                  <a:schemeClr val="tx2"/>
                </a:solidFill>
              </a:rPr>
              <a:t>))</a:t>
            </a:r>
            <a:endParaRPr lang="en-US" sz="1600" dirty="0">
              <a:solidFill>
                <a:schemeClr val="tx2"/>
              </a:solidFill>
            </a:endParaRPr>
          </a:p>
          <a:p>
            <a:endParaRPr lang="en-US" sz="1600" dirty="0">
              <a:solidFill>
                <a:schemeClr val="tx2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69350EA-64D8-E52D-17B5-3FC272E7AE30}"/>
              </a:ext>
            </a:extLst>
          </p:cNvPr>
          <p:cNvGrpSpPr/>
          <p:nvPr/>
        </p:nvGrpSpPr>
        <p:grpSpPr>
          <a:xfrm>
            <a:off x="463296" y="2190973"/>
            <a:ext cx="3657600" cy="1234440"/>
            <a:chOff x="731520" y="2011680"/>
            <a:chExt cx="3657600" cy="1234440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5A4D3536-394F-1853-522C-F361C1674CD0}"/>
                </a:ext>
              </a:extLst>
            </p:cNvPr>
            <p:cNvSpPr/>
            <p:nvPr/>
          </p:nvSpPr>
          <p:spPr>
            <a:xfrm>
              <a:off x="731520" y="2011680"/>
              <a:ext cx="3657600" cy="12344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001" dirty="0"/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4826D980-06D3-A934-10E2-3D846535FED4}"/>
                </a:ext>
              </a:extLst>
            </p:cNvPr>
            <p:cNvSpPr/>
            <p:nvPr/>
          </p:nvSpPr>
          <p:spPr>
            <a:xfrm>
              <a:off x="914400" y="2103120"/>
              <a:ext cx="1371600" cy="274320"/>
            </a:xfrm>
            <a:prstGeom prst="rect">
              <a:avLst/>
            </a:prstGeom>
            <a:solidFill>
              <a:srgbClr val="1C7293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Cluster A</a:t>
              </a:r>
              <a:endParaRPr lang="en-US" sz="1100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C46202BB-6268-4FD8-0541-626FDE53BE23}"/>
                </a:ext>
              </a:extLst>
            </p:cNvPr>
            <p:cNvSpPr/>
            <p:nvPr/>
          </p:nvSpPr>
          <p:spPr>
            <a:xfrm>
              <a:off x="914400" y="2560320"/>
              <a:ext cx="3291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dirty="0">
                  <a:solidFill>
                    <a:schemeClr val="tx2"/>
                  </a:solidFill>
                </a:rPr>
                <a:t>Recent (2009), massive audience attention, strong ratings (6.57). The pop-culture drivers.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6E23340-5C1B-52A3-3C85-B305A36B0CD2}"/>
              </a:ext>
            </a:extLst>
          </p:cNvPr>
          <p:cNvGrpSpPr/>
          <p:nvPr/>
        </p:nvGrpSpPr>
        <p:grpSpPr>
          <a:xfrm>
            <a:off x="4395216" y="2190973"/>
            <a:ext cx="3931920" cy="1234440"/>
            <a:chOff x="4754880" y="2011680"/>
            <a:chExt cx="3931920" cy="1234440"/>
          </a:xfrm>
        </p:grpSpPr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007378AB-CBF4-0EE9-89F4-29EAE9175516}"/>
                </a:ext>
              </a:extLst>
            </p:cNvPr>
            <p:cNvSpPr/>
            <p:nvPr/>
          </p:nvSpPr>
          <p:spPr>
            <a:xfrm>
              <a:off x="4754880" y="2011680"/>
              <a:ext cx="3931920" cy="12344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001"/>
            </a:p>
          </p:txBody>
        </p:sp>
        <p:sp>
          <p:nvSpPr>
            <p:cNvPr id="11" name="Text 8">
              <a:extLst>
                <a:ext uri="{FF2B5EF4-FFF2-40B4-BE49-F238E27FC236}">
                  <a16:creationId xmlns:a16="http://schemas.microsoft.com/office/drawing/2014/main" id="{63909CC1-7485-AB0D-CCF0-735B8C04D29B}"/>
                </a:ext>
              </a:extLst>
            </p:cNvPr>
            <p:cNvSpPr/>
            <p:nvPr/>
          </p:nvSpPr>
          <p:spPr>
            <a:xfrm>
              <a:off x="4937760" y="2103120"/>
              <a:ext cx="1371600" cy="274320"/>
            </a:xfrm>
            <a:prstGeom prst="rect">
              <a:avLst/>
            </a:prstGeom>
            <a:solidFill>
              <a:srgbClr val="1C7293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Cluster B</a:t>
              </a:r>
              <a:endParaRPr lang="en-US" sz="1100" dirty="0"/>
            </a:p>
          </p:txBody>
        </p:sp>
        <p:sp>
          <p:nvSpPr>
            <p:cNvPr id="12" name="Text 9">
              <a:extLst>
                <a:ext uri="{FF2B5EF4-FFF2-40B4-BE49-F238E27FC236}">
                  <a16:creationId xmlns:a16="http://schemas.microsoft.com/office/drawing/2014/main" id="{BE2A56E9-82BA-007A-1FBC-FAFD15CBD128}"/>
                </a:ext>
              </a:extLst>
            </p:cNvPr>
            <p:cNvSpPr/>
            <p:nvPr/>
          </p:nvSpPr>
          <p:spPr>
            <a:xfrm>
              <a:off x="6446520" y="2103120"/>
              <a:ext cx="22402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65A82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The Contemporary Bulk</a:t>
              </a:r>
              <a:endParaRPr lang="en-US" sz="1400" dirty="0"/>
            </a:p>
          </p:txBody>
        </p:sp>
        <p:sp>
          <p:nvSpPr>
            <p:cNvPr id="13" name="Text 10">
              <a:extLst>
                <a:ext uri="{FF2B5EF4-FFF2-40B4-BE49-F238E27FC236}">
                  <a16:creationId xmlns:a16="http://schemas.microsoft.com/office/drawing/2014/main" id="{5D7CF891-2EE6-E0D8-0F33-493A5A164CE0}"/>
                </a:ext>
              </a:extLst>
            </p:cNvPr>
            <p:cNvSpPr/>
            <p:nvPr/>
          </p:nvSpPr>
          <p:spPr>
            <a:xfrm>
              <a:off x="4937760" y="2560320"/>
              <a:ext cx="3291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dirty="0">
                  <a:solidFill>
                    <a:schemeClr val="tx2"/>
                  </a:solidFill>
                </a:rPr>
                <a:t>The modern content explosion (2011). Longer runtimes (122m) but entirely average ratings (5.93).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249FE14-C836-938E-02E2-4E3BF8F3180B}"/>
              </a:ext>
            </a:extLst>
          </p:cNvPr>
          <p:cNvGrpSpPr/>
          <p:nvPr/>
        </p:nvGrpSpPr>
        <p:grpSpPr>
          <a:xfrm>
            <a:off x="463296" y="3543300"/>
            <a:ext cx="4108704" cy="1234440"/>
            <a:chOff x="731520" y="2011680"/>
            <a:chExt cx="4108704" cy="1234440"/>
          </a:xfrm>
        </p:grpSpPr>
        <p:sp>
          <p:nvSpPr>
            <p:cNvPr id="15" name="Shape 3">
              <a:extLst>
                <a:ext uri="{FF2B5EF4-FFF2-40B4-BE49-F238E27FC236}">
                  <a16:creationId xmlns:a16="http://schemas.microsoft.com/office/drawing/2014/main" id="{23B2819C-72E3-926F-CC2B-5B8D9B3BE773}"/>
                </a:ext>
              </a:extLst>
            </p:cNvPr>
            <p:cNvSpPr/>
            <p:nvPr/>
          </p:nvSpPr>
          <p:spPr>
            <a:xfrm>
              <a:off x="731520" y="2011680"/>
              <a:ext cx="4108704" cy="12344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001" dirty="0"/>
            </a:p>
          </p:txBody>
        </p:sp>
        <p:sp>
          <p:nvSpPr>
            <p:cNvPr id="16" name="Text 4">
              <a:extLst>
                <a:ext uri="{FF2B5EF4-FFF2-40B4-BE49-F238E27FC236}">
                  <a16:creationId xmlns:a16="http://schemas.microsoft.com/office/drawing/2014/main" id="{F27426D2-6375-3A08-FCA4-5B6FAFE02B81}"/>
                </a:ext>
              </a:extLst>
            </p:cNvPr>
            <p:cNvSpPr/>
            <p:nvPr/>
          </p:nvSpPr>
          <p:spPr>
            <a:xfrm>
              <a:off x="914400" y="2103120"/>
              <a:ext cx="1371600" cy="274320"/>
            </a:xfrm>
            <a:prstGeom prst="rect">
              <a:avLst/>
            </a:prstGeom>
            <a:solidFill>
              <a:srgbClr val="1C7293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Cluster C</a:t>
              </a:r>
              <a:endParaRPr lang="en-US" sz="1100" dirty="0"/>
            </a:p>
          </p:txBody>
        </p:sp>
        <p:sp>
          <p:nvSpPr>
            <p:cNvPr id="17" name="Text 5">
              <a:extLst>
                <a:ext uri="{FF2B5EF4-FFF2-40B4-BE49-F238E27FC236}">
                  <a16:creationId xmlns:a16="http://schemas.microsoft.com/office/drawing/2014/main" id="{C15D5A55-0C09-ACD0-8786-9F1AB2FEF7C4}"/>
                </a:ext>
              </a:extLst>
            </p:cNvPr>
            <p:cNvSpPr/>
            <p:nvPr/>
          </p:nvSpPr>
          <p:spPr>
            <a:xfrm>
              <a:off x="2423160" y="2103120"/>
              <a:ext cx="241706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65A82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The Mid-Century Archive</a:t>
              </a:r>
              <a:endParaRPr lang="en-US" sz="1400" dirty="0"/>
            </a:p>
          </p:txBody>
        </p:sp>
        <p:sp>
          <p:nvSpPr>
            <p:cNvPr id="18" name="Text 6">
              <a:extLst>
                <a:ext uri="{FF2B5EF4-FFF2-40B4-BE49-F238E27FC236}">
                  <a16:creationId xmlns:a16="http://schemas.microsoft.com/office/drawing/2014/main" id="{8DAB4293-0AA2-2769-6FCF-8932F8BCF912}"/>
                </a:ext>
              </a:extLst>
            </p:cNvPr>
            <p:cNvSpPr/>
            <p:nvPr/>
          </p:nvSpPr>
          <p:spPr>
            <a:xfrm>
              <a:off x="914400" y="2560320"/>
              <a:ext cx="3291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dirty="0">
                  <a:solidFill>
                    <a:schemeClr val="tx2"/>
                  </a:solidFill>
                </a:rPr>
                <a:t>The reliable back-catalog. Older titles (1965) with a tight 92m runtime and solid ratings (6.23).</a:t>
              </a:r>
              <a:endParaRPr lang="en-US" sz="1200" dirty="0"/>
            </a:p>
          </p:txBody>
        </p:sp>
      </p:grpSp>
      <p:sp>
        <p:nvSpPr>
          <p:cNvPr id="24" name="Text 5">
            <a:extLst>
              <a:ext uri="{FF2B5EF4-FFF2-40B4-BE49-F238E27FC236}">
                <a16:creationId xmlns:a16="http://schemas.microsoft.com/office/drawing/2014/main" id="{216E274D-B21D-D4B3-42A1-0E18853B7F08}"/>
              </a:ext>
            </a:extLst>
          </p:cNvPr>
          <p:cNvSpPr/>
          <p:nvPr/>
        </p:nvSpPr>
        <p:spPr>
          <a:xfrm>
            <a:off x="2086356" y="2282413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Modern Hits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161591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39111A-72D3-D2D5-E378-DBC3A346A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6CBF370-D343-F9DA-3708-0690972ABC0F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101459A-8AAF-C6D9-7B43-FF94AC63B625}"/>
              </a:ext>
            </a:extLst>
          </p:cNvPr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Clustering &amp; Segmentation</a:t>
            </a:r>
            <a:endParaRPr lang="en-US" sz="34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6FF2EE-FEFE-CB66-F859-33D2F0783322}"/>
              </a:ext>
            </a:extLst>
          </p:cNvPr>
          <p:cNvSpPr txBox="1"/>
          <p:nvPr/>
        </p:nvSpPr>
        <p:spPr>
          <a:xfrm>
            <a:off x="463295" y="1109472"/>
            <a:ext cx="81069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</a:rPr>
              <a:t>5. By Value for Money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i="1" dirty="0">
                <a:solidFill>
                  <a:schemeClr val="tx2"/>
                </a:solidFill>
              </a:rPr>
              <a:t>(Satisfaction (user rating) + Production Cost (</a:t>
            </a:r>
            <a:r>
              <a:rPr lang="en-US" sz="1600" i="1" dirty="0" err="1">
                <a:solidFill>
                  <a:schemeClr val="tx2"/>
                </a:solidFill>
              </a:rPr>
              <a:t>numPrincipals</a:t>
            </a:r>
            <a:r>
              <a:rPr lang="en-US" sz="1600" i="1" dirty="0">
                <a:solidFill>
                  <a:schemeClr val="tx2"/>
                </a:solidFill>
              </a:rPr>
              <a:t>, cast rating)</a:t>
            </a:r>
            <a:endParaRPr lang="en-US" sz="1600" dirty="0">
              <a:solidFill>
                <a:schemeClr val="tx2"/>
              </a:solidFill>
            </a:endParaRPr>
          </a:p>
          <a:p>
            <a:endParaRPr lang="en-US" sz="1600" dirty="0">
              <a:solidFill>
                <a:schemeClr val="tx2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967AAAE-DC88-93F5-B531-66B330E081D8}"/>
              </a:ext>
            </a:extLst>
          </p:cNvPr>
          <p:cNvGrpSpPr/>
          <p:nvPr/>
        </p:nvGrpSpPr>
        <p:grpSpPr>
          <a:xfrm>
            <a:off x="463296" y="2190973"/>
            <a:ext cx="3657600" cy="1234440"/>
            <a:chOff x="731520" y="2011680"/>
            <a:chExt cx="3657600" cy="1234440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D48BAC66-3E12-1380-D536-66C66C1F3BAC}"/>
                </a:ext>
              </a:extLst>
            </p:cNvPr>
            <p:cNvSpPr/>
            <p:nvPr/>
          </p:nvSpPr>
          <p:spPr>
            <a:xfrm>
              <a:off x="731520" y="2011680"/>
              <a:ext cx="3657600" cy="12344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001" dirty="0"/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38913AAC-6478-773B-FA4B-37AF4D6F51D8}"/>
                </a:ext>
              </a:extLst>
            </p:cNvPr>
            <p:cNvSpPr/>
            <p:nvPr/>
          </p:nvSpPr>
          <p:spPr>
            <a:xfrm>
              <a:off x="914400" y="2103120"/>
              <a:ext cx="1371600" cy="274320"/>
            </a:xfrm>
            <a:prstGeom prst="rect">
              <a:avLst/>
            </a:prstGeom>
            <a:solidFill>
              <a:srgbClr val="1C7293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Cluster A</a:t>
              </a:r>
              <a:endParaRPr lang="en-US" sz="1100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6E04F2DA-571A-FD97-D50F-AA9BEF9F792F}"/>
                </a:ext>
              </a:extLst>
            </p:cNvPr>
            <p:cNvSpPr/>
            <p:nvPr/>
          </p:nvSpPr>
          <p:spPr>
            <a:xfrm>
              <a:off x="914400" y="2560320"/>
              <a:ext cx="3291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dirty="0">
                  <a:solidFill>
                    <a:schemeClr val="tx2"/>
                  </a:solidFill>
                </a:rPr>
                <a:t>The most valuable IPs. Elite ratings (7.60), massive votes, top-tier directors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18FD624-AE53-7A8F-B370-32A66FEB8D02}"/>
              </a:ext>
            </a:extLst>
          </p:cNvPr>
          <p:cNvGrpSpPr/>
          <p:nvPr/>
        </p:nvGrpSpPr>
        <p:grpSpPr>
          <a:xfrm>
            <a:off x="4395216" y="2190973"/>
            <a:ext cx="3657600" cy="1234440"/>
            <a:chOff x="4754880" y="2011680"/>
            <a:chExt cx="3657600" cy="1234440"/>
          </a:xfrm>
        </p:grpSpPr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EE339D47-4272-23EE-2F59-9A06166488D1}"/>
                </a:ext>
              </a:extLst>
            </p:cNvPr>
            <p:cNvSpPr/>
            <p:nvPr/>
          </p:nvSpPr>
          <p:spPr>
            <a:xfrm>
              <a:off x="4754880" y="2011680"/>
              <a:ext cx="3657600" cy="12344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001"/>
            </a:p>
          </p:txBody>
        </p:sp>
        <p:sp>
          <p:nvSpPr>
            <p:cNvPr id="11" name="Text 8">
              <a:extLst>
                <a:ext uri="{FF2B5EF4-FFF2-40B4-BE49-F238E27FC236}">
                  <a16:creationId xmlns:a16="http://schemas.microsoft.com/office/drawing/2014/main" id="{A7F14036-2B43-4D1E-8898-B2FC1721DAF8}"/>
                </a:ext>
              </a:extLst>
            </p:cNvPr>
            <p:cNvSpPr/>
            <p:nvPr/>
          </p:nvSpPr>
          <p:spPr>
            <a:xfrm>
              <a:off x="4937760" y="2103120"/>
              <a:ext cx="1371600" cy="274320"/>
            </a:xfrm>
            <a:prstGeom prst="rect">
              <a:avLst/>
            </a:prstGeom>
            <a:solidFill>
              <a:srgbClr val="1C7293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Cluster B</a:t>
              </a:r>
              <a:endParaRPr lang="en-US" sz="1100" dirty="0"/>
            </a:p>
          </p:txBody>
        </p:sp>
        <p:sp>
          <p:nvSpPr>
            <p:cNvPr id="12" name="Text 9">
              <a:extLst>
                <a:ext uri="{FF2B5EF4-FFF2-40B4-BE49-F238E27FC236}">
                  <a16:creationId xmlns:a16="http://schemas.microsoft.com/office/drawing/2014/main" id="{F2ADBE3B-BE2A-212A-1858-A05AFFB108F9}"/>
                </a:ext>
              </a:extLst>
            </p:cNvPr>
            <p:cNvSpPr/>
            <p:nvPr/>
          </p:nvSpPr>
          <p:spPr>
            <a:xfrm>
              <a:off x="6446520" y="2103120"/>
              <a:ext cx="19659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65A82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Hidden Gems</a:t>
              </a:r>
              <a:endParaRPr lang="en-US" sz="1400" dirty="0"/>
            </a:p>
          </p:txBody>
        </p:sp>
        <p:sp>
          <p:nvSpPr>
            <p:cNvPr id="13" name="Text 10">
              <a:extLst>
                <a:ext uri="{FF2B5EF4-FFF2-40B4-BE49-F238E27FC236}">
                  <a16:creationId xmlns:a16="http://schemas.microsoft.com/office/drawing/2014/main" id="{9517C31A-D02C-5407-A680-39FD980F85E3}"/>
                </a:ext>
              </a:extLst>
            </p:cNvPr>
            <p:cNvSpPr/>
            <p:nvPr/>
          </p:nvSpPr>
          <p:spPr>
            <a:xfrm>
              <a:off x="4937760" y="2560320"/>
              <a:ext cx="3291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dirty="0">
                  <a:solidFill>
                    <a:schemeClr val="tx2"/>
                  </a:solidFill>
                </a:rPr>
                <a:t>Highly efficient acquisitions. Excellent user satisfaction (7.74), solid ratings (6.71), standard runtime (92m).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D5EB5F1-BDA5-64D5-7DD6-A7CE38541007}"/>
              </a:ext>
            </a:extLst>
          </p:cNvPr>
          <p:cNvGrpSpPr/>
          <p:nvPr/>
        </p:nvGrpSpPr>
        <p:grpSpPr>
          <a:xfrm>
            <a:off x="478536" y="3543300"/>
            <a:ext cx="3657600" cy="1234440"/>
            <a:chOff x="731520" y="2011680"/>
            <a:chExt cx="3657600" cy="1234440"/>
          </a:xfrm>
        </p:grpSpPr>
        <p:sp>
          <p:nvSpPr>
            <p:cNvPr id="15" name="Shape 3">
              <a:extLst>
                <a:ext uri="{FF2B5EF4-FFF2-40B4-BE49-F238E27FC236}">
                  <a16:creationId xmlns:a16="http://schemas.microsoft.com/office/drawing/2014/main" id="{7E5451EB-35E7-CC4C-C55B-E4BE20F9C4EE}"/>
                </a:ext>
              </a:extLst>
            </p:cNvPr>
            <p:cNvSpPr/>
            <p:nvPr/>
          </p:nvSpPr>
          <p:spPr>
            <a:xfrm>
              <a:off x="731520" y="2011680"/>
              <a:ext cx="3657600" cy="12344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001" dirty="0"/>
            </a:p>
          </p:txBody>
        </p:sp>
        <p:sp>
          <p:nvSpPr>
            <p:cNvPr id="16" name="Text 4">
              <a:extLst>
                <a:ext uri="{FF2B5EF4-FFF2-40B4-BE49-F238E27FC236}">
                  <a16:creationId xmlns:a16="http://schemas.microsoft.com/office/drawing/2014/main" id="{869BF76C-C132-2417-2473-1DC6BEF129FE}"/>
                </a:ext>
              </a:extLst>
            </p:cNvPr>
            <p:cNvSpPr/>
            <p:nvPr/>
          </p:nvSpPr>
          <p:spPr>
            <a:xfrm>
              <a:off x="914400" y="2103120"/>
              <a:ext cx="1371600" cy="274320"/>
            </a:xfrm>
            <a:prstGeom prst="rect">
              <a:avLst/>
            </a:prstGeom>
            <a:solidFill>
              <a:srgbClr val="1C7293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Cluster C</a:t>
              </a:r>
              <a:endParaRPr lang="en-US" sz="1100" dirty="0"/>
            </a:p>
          </p:txBody>
        </p:sp>
        <p:sp>
          <p:nvSpPr>
            <p:cNvPr id="17" name="Text 5">
              <a:extLst>
                <a:ext uri="{FF2B5EF4-FFF2-40B4-BE49-F238E27FC236}">
                  <a16:creationId xmlns:a16="http://schemas.microsoft.com/office/drawing/2014/main" id="{8BD18938-82D7-70B7-0866-A347630E744B}"/>
                </a:ext>
              </a:extLst>
            </p:cNvPr>
            <p:cNvSpPr/>
            <p:nvPr/>
          </p:nvSpPr>
          <p:spPr>
            <a:xfrm>
              <a:off x="2423160" y="210312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65A82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Poor Investments</a:t>
              </a:r>
              <a:endParaRPr lang="en-US" sz="1400" dirty="0"/>
            </a:p>
          </p:txBody>
        </p:sp>
        <p:sp>
          <p:nvSpPr>
            <p:cNvPr id="18" name="Text 6">
              <a:extLst>
                <a:ext uri="{FF2B5EF4-FFF2-40B4-BE49-F238E27FC236}">
                  <a16:creationId xmlns:a16="http://schemas.microsoft.com/office/drawing/2014/main" id="{EC4F3DF0-0F8E-8E5A-85BE-749558952837}"/>
                </a:ext>
              </a:extLst>
            </p:cNvPr>
            <p:cNvSpPr/>
            <p:nvPr/>
          </p:nvSpPr>
          <p:spPr>
            <a:xfrm>
              <a:off x="914400" y="2560320"/>
              <a:ext cx="3291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dirty="0">
                  <a:solidFill>
                    <a:schemeClr val="tx2"/>
                  </a:solidFill>
                </a:rPr>
                <a:t>Library inflaters. Bad ratings (4.23–6.39) and terrible user satisfaction.</a:t>
              </a:r>
            </a:p>
          </p:txBody>
        </p:sp>
      </p:grpSp>
      <p:sp>
        <p:nvSpPr>
          <p:cNvPr id="24" name="Text 5">
            <a:extLst>
              <a:ext uri="{FF2B5EF4-FFF2-40B4-BE49-F238E27FC236}">
                <a16:creationId xmlns:a16="http://schemas.microsoft.com/office/drawing/2014/main" id="{049F9457-3A1D-7F55-8CE4-994910C05A9C}"/>
              </a:ext>
            </a:extLst>
          </p:cNvPr>
          <p:cNvSpPr/>
          <p:nvPr/>
        </p:nvSpPr>
        <p:spPr>
          <a:xfrm>
            <a:off x="2086356" y="2282413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Elite Mega-Hits</a:t>
            </a:r>
            <a:endParaRPr lang="en-US" sz="14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E32C6DB-AEDC-7051-793B-421010D51A9B}"/>
              </a:ext>
            </a:extLst>
          </p:cNvPr>
          <p:cNvGrpSpPr/>
          <p:nvPr/>
        </p:nvGrpSpPr>
        <p:grpSpPr>
          <a:xfrm>
            <a:off x="4395216" y="3538369"/>
            <a:ext cx="3657600" cy="1234440"/>
            <a:chOff x="731520" y="2011680"/>
            <a:chExt cx="3657600" cy="1234440"/>
          </a:xfrm>
        </p:grpSpPr>
        <p:sp>
          <p:nvSpPr>
            <p:cNvPr id="19" name="Shape 3">
              <a:extLst>
                <a:ext uri="{FF2B5EF4-FFF2-40B4-BE49-F238E27FC236}">
                  <a16:creationId xmlns:a16="http://schemas.microsoft.com/office/drawing/2014/main" id="{5ACACB60-4A6E-7005-6893-82A7AE15588F}"/>
                </a:ext>
              </a:extLst>
            </p:cNvPr>
            <p:cNvSpPr/>
            <p:nvPr/>
          </p:nvSpPr>
          <p:spPr>
            <a:xfrm>
              <a:off x="731520" y="2011680"/>
              <a:ext cx="3657600" cy="12344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001" dirty="0"/>
            </a:p>
          </p:txBody>
        </p:sp>
        <p:sp>
          <p:nvSpPr>
            <p:cNvPr id="20" name="Text 4">
              <a:extLst>
                <a:ext uri="{FF2B5EF4-FFF2-40B4-BE49-F238E27FC236}">
                  <a16:creationId xmlns:a16="http://schemas.microsoft.com/office/drawing/2014/main" id="{443445D3-01D5-B998-BDAC-B3630E77548E}"/>
                </a:ext>
              </a:extLst>
            </p:cNvPr>
            <p:cNvSpPr/>
            <p:nvPr/>
          </p:nvSpPr>
          <p:spPr>
            <a:xfrm>
              <a:off x="914400" y="2103120"/>
              <a:ext cx="1371600" cy="274320"/>
            </a:xfrm>
            <a:prstGeom prst="rect">
              <a:avLst/>
            </a:prstGeom>
            <a:solidFill>
              <a:srgbClr val="1C7293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Cluster D</a:t>
              </a:r>
              <a:endParaRPr lang="en-US" sz="1100" dirty="0"/>
            </a:p>
          </p:txBody>
        </p:sp>
        <p:sp>
          <p:nvSpPr>
            <p:cNvPr id="21" name="Text 5">
              <a:extLst>
                <a:ext uri="{FF2B5EF4-FFF2-40B4-BE49-F238E27FC236}">
                  <a16:creationId xmlns:a16="http://schemas.microsoft.com/office/drawing/2014/main" id="{AFE69288-AFAB-B125-1596-227AA2029DA6}"/>
                </a:ext>
              </a:extLst>
            </p:cNvPr>
            <p:cNvSpPr/>
            <p:nvPr/>
          </p:nvSpPr>
          <p:spPr>
            <a:xfrm>
              <a:off x="2423160" y="210312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65A82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The 90s Staples </a:t>
              </a:r>
              <a:endParaRPr lang="en-US" sz="1400" dirty="0"/>
            </a:p>
          </p:txBody>
        </p:sp>
        <p:sp>
          <p:nvSpPr>
            <p:cNvPr id="22" name="Text 6">
              <a:extLst>
                <a:ext uri="{FF2B5EF4-FFF2-40B4-BE49-F238E27FC236}">
                  <a16:creationId xmlns:a16="http://schemas.microsoft.com/office/drawing/2014/main" id="{4AB62AD0-1432-8187-5C7B-1FDB27719323}"/>
                </a:ext>
              </a:extLst>
            </p:cNvPr>
            <p:cNvSpPr/>
            <p:nvPr/>
          </p:nvSpPr>
          <p:spPr>
            <a:xfrm>
              <a:off x="914400" y="2560320"/>
              <a:ext cx="3291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dirty="0">
                  <a:solidFill>
                    <a:schemeClr val="tx2"/>
                  </a:solidFill>
                </a:rPr>
                <a:t>Reliable, high-engagement titles from the 90s with strong ratings. Good for platform retention.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08185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C7FCA5-C4EE-C391-6A39-D23986B45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8F8BC6F-5C0A-D81C-D4B0-A028F4D0EE29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5FDB7CC-EFEB-3F8D-C89C-212B7C4670E2}"/>
              </a:ext>
            </a:extLst>
          </p:cNvPr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Clustering &amp; Segmentation</a:t>
            </a:r>
            <a:endParaRPr lang="en-US" sz="34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B2A03A-83D1-D255-FA17-9941847325A9}"/>
              </a:ext>
            </a:extLst>
          </p:cNvPr>
          <p:cNvSpPr txBox="1"/>
          <p:nvPr/>
        </p:nvSpPr>
        <p:spPr>
          <a:xfrm>
            <a:off x="463295" y="1109472"/>
            <a:ext cx="81069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</a:rPr>
              <a:t>6. By Genre Format Signature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i="1" dirty="0">
                <a:solidFill>
                  <a:schemeClr val="tx2"/>
                </a:solidFill>
              </a:rPr>
              <a:t>(Runtime Formats)</a:t>
            </a:r>
            <a:endParaRPr lang="en-US" sz="1600" dirty="0">
              <a:solidFill>
                <a:schemeClr val="tx2"/>
              </a:solidFill>
            </a:endParaRPr>
          </a:p>
          <a:p>
            <a:endParaRPr lang="en-US" sz="1600" dirty="0">
              <a:solidFill>
                <a:schemeClr val="tx2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2348D24-A0BB-EB4F-FA6B-A456493C4454}"/>
              </a:ext>
            </a:extLst>
          </p:cNvPr>
          <p:cNvGrpSpPr/>
          <p:nvPr/>
        </p:nvGrpSpPr>
        <p:grpSpPr>
          <a:xfrm>
            <a:off x="463296" y="2190973"/>
            <a:ext cx="3657600" cy="1234440"/>
            <a:chOff x="731520" y="2011680"/>
            <a:chExt cx="3657600" cy="1234440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49BAFF98-0964-DF76-3C38-388B9D2D6720}"/>
                </a:ext>
              </a:extLst>
            </p:cNvPr>
            <p:cNvSpPr/>
            <p:nvPr/>
          </p:nvSpPr>
          <p:spPr>
            <a:xfrm>
              <a:off x="731520" y="2011680"/>
              <a:ext cx="3657600" cy="12344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001" dirty="0"/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6A26B387-0802-3E11-3AFD-2015BD04FC27}"/>
                </a:ext>
              </a:extLst>
            </p:cNvPr>
            <p:cNvSpPr/>
            <p:nvPr/>
          </p:nvSpPr>
          <p:spPr>
            <a:xfrm>
              <a:off x="914400" y="2103120"/>
              <a:ext cx="1371600" cy="274320"/>
            </a:xfrm>
            <a:prstGeom prst="rect">
              <a:avLst/>
            </a:prstGeom>
            <a:solidFill>
              <a:srgbClr val="1C7293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Cluster A</a:t>
              </a:r>
              <a:endParaRPr lang="en-US" sz="1100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56AC2E39-AFF2-922D-2C74-DE4E3E8AB215}"/>
                </a:ext>
              </a:extLst>
            </p:cNvPr>
            <p:cNvSpPr/>
            <p:nvPr/>
          </p:nvSpPr>
          <p:spPr>
            <a:xfrm>
              <a:off x="914400" y="2560320"/>
              <a:ext cx="3291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dirty="0">
                  <a:solidFill>
                    <a:schemeClr val="tx2"/>
                  </a:solidFill>
                </a:rPr>
                <a:t>Small but mighty. 103m films with high ratings (6.82) and top-tier directors (6.71).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E705D42-9FDE-EE02-5185-953E5560D662}"/>
              </a:ext>
            </a:extLst>
          </p:cNvPr>
          <p:cNvGrpSpPr/>
          <p:nvPr/>
        </p:nvGrpSpPr>
        <p:grpSpPr>
          <a:xfrm>
            <a:off x="4395216" y="2190973"/>
            <a:ext cx="3657600" cy="1234440"/>
            <a:chOff x="4754880" y="2011680"/>
            <a:chExt cx="3657600" cy="1234440"/>
          </a:xfrm>
        </p:grpSpPr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34F104D8-4B3D-03B3-D24C-8D3A374DC96B}"/>
                </a:ext>
              </a:extLst>
            </p:cNvPr>
            <p:cNvSpPr/>
            <p:nvPr/>
          </p:nvSpPr>
          <p:spPr>
            <a:xfrm>
              <a:off x="4754880" y="2011680"/>
              <a:ext cx="3657600" cy="12344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001"/>
            </a:p>
          </p:txBody>
        </p:sp>
        <p:sp>
          <p:nvSpPr>
            <p:cNvPr id="11" name="Text 8">
              <a:extLst>
                <a:ext uri="{FF2B5EF4-FFF2-40B4-BE49-F238E27FC236}">
                  <a16:creationId xmlns:a16="http://schemas.microsoft.com/office/drawing/2014/main" id="{54A2F20C-CE58-9C0A-61B8-870A9C153BF9}"/>
                </a:ext>
              </a:extLst>
            </p:cNvPr>
            <p:cNvSpPr/>
            <p:nvPr/>
          </p:nvSpPr>
          <p:spPr>
            <a:xfrm>
              <a:off x="4937760" y="2103120"/>
              <a:ext cx="1371600" cy="274320"/>
            </a:xfrm>
            <a:prstGeom prst="rect">
              <a:avLst/>
            </a:prstGeom>
            <a:solidFill>
              <a:srgbClr val="1C7293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Cluster B</a:t>
              </a:r>
              <a:endParaRPr lang="en-US" sz="1100" dirty="0"/>
            </a:p>
          </p:txBody>
        </p:sp>
        <p:sp>
          <p:nvSpPr>
            <p:cNvPr id="12" name="Text 9">
              <a:extLst>
                <a:ext uri="{FF2B5EF4-FFF2-40B4-BE49-F238E27FC236}">
                  <a16:creationId xmlns:a16="http://schemas.microsoft.com/office/drawing/2014/main" id="{24F019A7-AEEF-F021-47CF-61396734F7B4}"/>
                </a:ext>
              </a:extLst>
            </p:cNvPr>
            <p:cNvSpPr/>
            <p:nvPr/>
          </p:nvSpPr>
          <p:spPr>
            <a:xfrm>
              <a:off x="6446520" y="2103120"/>
              <a:ext cx="19659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65A82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Epics &amp; Long-Form</a:t>
              </a:r>
              <a:endParaRPr lang="en-US" sz="1400" dirty="0"/>
            </a:p>
          </p:txBody>
        </p:sp>
        <p:sp>
          <p:nvSpPr>
            <p:cNvPr id="13" name="Text 10">
              <a:extLst>
                <a:ext uri="{FF2B5EF4-FFF2-40B4-BE49-F238E27FC236}">
                  <a16:creationId xmlns:a16="http://schemas.microsoft.com/office/drawing/2014/main" id="{A47198FD-F8D7-803D-163F-072EEF4F2199}"/>
                </a:ext>
              </a:extLst>
            </p:cNvPr>
            <p:cNvSpPr/>
            <p:nvPr/>
          </p:nvSpPr>
          <p:spPr>
            <a:xfrm>
              <a:off x="4937760" y="2560320"/>
              <a:ext cx="3291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dirty="0">
                  <a:solidFill>
                    <a:schemeClr val="tx2"/>
                  </a:solidFill>
                </a:rPr>
                <a:t>Sweeping epics or extended cuts. Very long runtimes (154m) with average ratings (6.06).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8319080-BF6B-EEE1-BCE7-4D0E01D94AB2}"/>
              </a:ext>
            </a:extLst>
          </p:cNvPr>
          <p:cNvGrpSpPr/>
          <p:nvPr/>
        </p:nvGrpSpPr>
        <p:grpSpPr>
          <a:xfrm>
            <a:off x="463296" y="3543300"/>
            <a:ext cx="3657600" cy="1234440"/>
            <a:chOff x="731520" y="2011680"/>
            <a:chExt cx="3657600" cy="1234440"/>
          </a:xfrm>
        </p:grpSpPr>
        <p:sp>
          <p:nvSpPr>
            <p:cNvPr id="15" name="Shape 3">
              <a:extLst>
                <a:ext uri="{FF2B5EF4-FFF2-40B4-BE49-F238E27FC236}">
                  <a16:creationId xmlns:a16="http://schemas.microsoft.com/office/drawing/2014/main" id="{AF069CAD-840F-17BF-4544-786327BB467A}"/>
                </a:ext>
              </a:extLst>
            </p:cNvPr>
            <p:cNvSpPr/>
            <p:nvPr/>
          </p:nvSpPr>
          <p:spPr>
            <a:xfrm>
              <a:off x="731520" y="2011680"/>
              <a:ext cx="3657600" cy="12344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001" dirty="0"/>
            </a:p>
          </p:txBody>
        </p:sp>
        <p:sp>
          <p:nvSpPr>
            <p:cNvPr id="16" name="Text 4">
              <a:extLst>
                <a:ext uri="{FF2B5EF4-FFF2-40B4-BE49-F238E27FC236}">
                  <a16:creationId xmlns:a16="http://schemas.microsoft.com/office/drawing/2014/main" id="{5534C492-0790-C10B-8BF2-B744963E3C73}"/>
                </a:ext>
              </a:extLst>
            </p:cNvPr>
            <p:cNvSpPr/>
            <p:nvPr/>
          </p:nvSpPr>
          <p:spPr>
            <a:xfrm>
              <a:off x="914400" y="2103120"/>
              <a:ext cx="1371600" cy="274320"/>
            </a:xfrm>
            <a:prstGeom prst="rect">
              <a:avLst/>
            </a:prstGeom>
            <a:solidFill>
              <a:srgbClr val="1C7293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Cluster C</a:t>
              </a:r>
              <a:endParaRPr lang="en-US" sz="1100" dirty="0"/>
            </a:p>
          </p:txBody>
        </p:sp>
        <p:sp>
          <p:nvSpPr>
            <p:cNvPr id="17" name="Text 5">
              <a:extLst>
                <a:ext uri="{FF2B5EF4-FFF2-40B4-BE49-F238E27FC236}">
                  <a16:creationId xmlns:a16="http://schemas.microsoft.com/office/drawing/2014/main" id="{A0044C82-F4EB-3531-BF81-1A93525DF077}"/>
                </a:ext>
              </a:extLst>
            </p:cNvPr>
            <p:cNvSpPr/>
            <p:nvPr/>
          </p:nvSpPr>
          <p:spPr>
            <a:xfrm>
              <a:off x="2423160" y="2103120"/>
              <a:ext cx="19659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65A82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The Standard Features</a:t>
              </a:r>
              <a:endParaRPr lang="en-US" sz="1400" dirty="0"/>
            </a:p>
          </p:txBody>
        </p:sp>
        <p:sp>
          <p:nvSpPr>
            <p:cNvPr id="18" name="Text 6">
              <a:extLst>
                <a:ext uri="{FF2B5EF4-FFF2-40B4-BE49-F238E27FC236}">
                  <a16:creationId xmlns:a16="http://schemas.microsoft.com/office/drawing/2014/main" id="{15BD0547-CC81-C229-27A1-E999C308FFD3}"/>
                </a:ext>
              </a:extLst>
            </p:cNvPr>
            <p:cNvSpPr/>
            <p:nvPr/>
          </p:nvSpPr>
          <p:spPr>
            <a:xfrm>
              <a:off x="914400" y="2560320"/>
              <a:ext cx="3291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dirty="0">
                  <a:solidFill>
                    <a:schemeClr val="tx2"/>
                  </a:solidFill>
                </a:rPr>
                <a:t>The bulk of the catalog (90–104 mins), ranging from underperformers (5.58) to solid performers (6.54).</a:t>
              </a:r>
            </a:p>
          </p:txBody>
        </p:sp>
      </p:grpSp>
      <p:sp>
        <p:nvSpPr>
          <p:cNvPr id="24" name="Text 5">
            <a:extLst>
              <a:ext uri="{FF2B5EF4-FFF2-40B4-BE49-F238E27FC236}">
                <a16:creationId xmlns:a16="http://schemas.microsoft.com/office/drawing/2014/main" id="{0707A654-56DB-6D22-3223-1C9F96BE0082}"/>
              </a:ext>
            </a:extLst>
          </p:cNvPr>
          <p:cNvSpPr/>
          <p:nvPr/>
        </p:nvSpPr>
        <p:spPr>
          <a:xfrm>
            <a:off x="2086356" y="2282413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Acclaimed Dramas</a:t>
            </a:r>
            <a:endParaRPr lang="en-US" sz="14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5E49F27-8CD6-4B5C-0632-AED685A7D931}"/>
              </a:ext>
            </a:extLst>
          </p:cNvPr>
          <p:cNvGrpSpPr/>
          <p:nvPr/>
        </p:nvGrpSpPr>
        <p:grpSpPr>
          <a:xfrm>
            <a:off x="4395216" y="3543300"/>
            <a:ext cx="3657600" cy="1234440"/>
            <a:chOff x="731520" y="2011680"/>
            <a:chExt cx="3657600" cy="1234440"/>
          </a:xfrm>
        </p:grpSpPr>
        <p:sp>
          <p:nvSpPr>
            <p:cNvPr id="19" name="Shape 3">
              <a:extLst>
                <a:ext uri="{FF2B5EF4-FFF2-40B4-BE49-F238E27FC236}">
                  <a16:creationId xmlns:a16="http://schemas.microsoft.com/office/drawing/2014/main" id="{9130C4EA-B20D-BD1B-373A-DCE411E3286D}"/>
                </a:ext>
              </a:extLst>
            </p:cNvPr>
            <p:cNvSpPr/>
            <p:nvPr/>
          </p:nvSpPr>
          <p:spPr>
            <a:xfrm>
              <a:off x="731520" y="2011680"/>
              <a:ext cx="3657600" cy="12344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001" dirty="0"/>
            </a:p>
          </p:txBody>
        </p:sp>
        <p:sp>
          <p:nvSpPr>
            <p:cNvPr id="20" name="Text 4">
              <a:extLst>
                <a:ext uri="{FF2B5EF4-FFF2-40B4-BE49-F238E27FC236}">
                  <a16:creationId xmlns:a16="http://schemas.microsoft.com/office/drawing/2014/main" id="{8C653EB4-1B3D-7D0E-4462-DF5630E14436}"/>
                </a:ext>
              </a:extLst>
            </p:cNvPr>
            <p:cNvSpPr/>
            <p:nvPr/>
          </p:nvSpPr>
          <p:spPr>
            <a:xfrm>
              <a:off x="914400" y="2103120"/>
              <a:ext cx="1371600" cy="274320"/>
            </a:xfrm>
            <a:prstGeom prst="rect">
              <a:avLst/>
            </a:prstGeom>
            <a:solidFill>
              <a:srgbClr val="1C7293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Cluster D</a:t>
              </a:r>
              <a:endParaRPr lang="en-US" sz="1100" dirty="0"/>
            </a:p>
          </p:txBody>
        </p:sp>
        <p:sp>
          <p:nvSpPr>
            <p:cNvPr id="21" name="Text 5">
              <a:extLst>
                <a:ext uri="{FF2B5EF4-FFF2-40B4-BE49-F238E27FC236}">
                  <a16:creationId xmlns:a16="http://schemas.microsoft.com/office/drawing/2014/main" id="{AF66CC5B-C8AF-5A12-337E-01ECD792941A}"/>
                </a:ext>
              </a:extLst>
            </p:cNvPr>
            <p:cNvSpPr/>
            <p:nvPr/>
          </p:nvSpPr>
          <p:spPr>
            <a:xfrm>
              <a:off x="2423160" y="2103120"/>
              <a:ext cx="19659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65A82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Hour-Long Formats </a:t>
              </a:r>
              <a:endParaRPr lang="en-US" sz="1400" dirty="0"/>
            </a:p>
          </p:txBody>
        </p:sp>
        <p:sp>
          <p:nvSpPr>
            <p:cNvPr id="22" name="Text 6">
              <a:extLst>
                <a:ext uri="{FF2B5EF4-FFF2-40B4-BE49-F238E27FC236}">
                  <a16:creationId xmlns:a16="http://schemas.microsoft.com/office/drawing/2014/main" id="{9D46C7A5-ED8C-8DA7-4988-AA4C5ECD1EB6}"/>
                </a:ext>
              </a:extLst>
            </p:cNvPr>
            <p:cNvSpPr/>
            <p:nvPr/>
          </p:nvSpPr>
          <p:spPr>
            <a:xfrm>
              <a:off x="914400" y="2560320"/>
              <a:ext cx="3291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dirty="0">
                  <a:solidFill>
                    <a:schemeClr val="tx2"/>
                  </a:solidFill>
                </a:rPr>
                <a:t>At 74 minutes, TV specials, British television formats, or short documentaries. They have good ratings (6.19).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303670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&amp; Visualization</a:t>
            </a:r>
            <a:endParaRPr lang="en-US" sz="340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Metrics</a:t>
            </a:r>
            <a:endParaRPr lang="en-US" sz="180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Tx/>
              <a:buChar char="•"/>
            </a:pPr>
            <a:r>
              <a:rPr lang="en-001" altLang="en-001" sz="1200">
                <a:latin typeface="Google Sans Text"/>
              </a:rPr>
              <a:t>RMSE &amp; MAE </a:t>
            </a:r>
            <a:r>
              <a:rPr lang="en-US" altLang="en-001" sz="1200">
                <a:latin typeface="Google Sans Text"/>
              </a:rPr>
              <a:t>-</a:t>
            </a:r>
            <a:r>
              <a:rPr lang="en-001" altLang="en-001" sz="1200">
                <a:latin typeface="Google Sans Text"/>
              </a:rPr>
              <a:t> For measuring regression model prediction error</a:t>
            </a:r>
            <a:r>
              <a:rPr lang="en-001" altLang="en-001" sz="1200"/>
              <a:t> </a:t>
            </a:r>
            <a:endParaRPr lang="en-001" altLang="en-001" sz="1200">
              <a:latin typeface="Arial" panose="020B0604020202020204" pitchFamily="34" charset="0"/>
            </a:endParaRPr>
          </a:p>
          <a:p>
            <a:pPr marL="342900" indent="-342900">
              <a:buSzPct val="100000"/>
              <a:buChar char="•"/>
            </a:pP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 - </a:t>
            </a:r>
            <a:r>
              <a:rPr lang="en-US" sz="1200"/>
              <a:t>To evaluate the variance explained by the model</a:t>
            </a:r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&amp; F1 - </a:t>
            </a:r>
            <a:r>
              <a:rPr lang="en-US" sz="1200"/>
              <a:t>For measuring rating tier classification performance</a:t>
            </a:r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 - T</a:t>
            </a:r>
            <a:r>
              <a:rPr lang="en-US" sz="1200"/>
              <a:t>o assess K-Means cluster separation and quality</a:t>
            </a:r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4289911473"/>
              </p:ext>
            </p:extLst>
          </p:nvPr>
        </p:nvGraphicFramePr>
        <p:xfrm>
          <a:off x="4754880" y="1097280"/>
          <a:ext cx="402336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73152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Visual Outputs</a:t>
            </a:r>
            <a:endParaRPr lang="en-US" sz="1600"/>
          </a:p>
        </p:txBody>
      </p:sp>
      <p:sp>
        <p:nvSpPr>
          <p:cNvPr id="11" name="Text 8"/>
          <p:cNvSpPr/>
          <p:nvPr/>
        </p:nvSpPr>
        <p:spPr>
          <a:xfrm>
            <a:off x="914400" y="4069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/>
              <a:t>Target variable distribution histograms &amp; Runtime boxplots</a:t>
            </a:r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r>
              <a:rPr lang="en-GB" sz="1200" err="1"/>
              <a:t>enre</a:t>
            </a:r>
            <a:r>
              <a:rPr lang="en-GB" sz="1200"/>
              <a:t> Popularity vs. Quality bubble charts</a:t>
            </a: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/>
              <a:t>Heatmap Confusion Matrix for the best classifier (Random Forest)</a:t>
            </a:r>
          </a:p>
          <a:p>
            <a:pPr marL="342900" indent="-342900">
              <a:buSzPct val="100000"/>
              <a:buChar char="•"/>
            </a:pPr>
            <a:r>
              <a:rPr lang="en-US" sz="1200"/>
              <a:t>K-Means Elbow and Silhouette Analysis trend plots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D9DCF5-71D8-C53B-3596-F6B574BCD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F405BC6-D4FE-AF89-A9FC-DB9BB16FFE0C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F8144C5-2E83-9DFC-9991-93B10AE4DF9D}"/>
              </a:ext>
            </a:extLst>
          </p:cNvPr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&amp; Visualization</a:t>
            </a:r>
            <a:endParaRPr lang="en-US" sz="3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32C8F30-B242-CE31-486A-F1BA6B4EF9D3}"/>
              </a:ext>
            </a:extLst>
          </p:cNvPr>
          <p:cNvSpPr/>
          <p:nvPr/>
        </p:nvSpPr>
        <p:spPr>
          <a:xfrm>
            <a:off x="731520" y="110589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065A82"/>
                </a:solidFill>
                <a:latin typeface="Georgia"/>
              </a:rPr>
              <a:t>Genres Visualization</a:t>
            </a:r>
            <a:endParaRPr lang="en-US" sz="18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AFAB190-C195-615C-DEBB-D63AF32B6673}"/>
              </a:ext>
            </a:extLst>
          </p:cNvPr>
          <p:cNvSpPr/>
          <p:nvPr/>
        </p:nvSpPr>
        <p:spPr>
          <a:xfrm>
            <a:off x="955813" y="15508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High engagement ≠ highest quality</a:t>
            </a:r>
            <a:endParaRPr lang="en-US" sz="1200">
              <a:latin typeface="Calibri"/>
              <a:ea typeface="Calibri"/>
              <a:cs typeface="Calibri"/>
            </a:endParaRPr>
          </a:p>
          <a:p>
            <a:pPr marL="342900" indent="-342900">
              <a:buSzPct val="100000"/>
              <a:buChar char="•"/>
            </a:pPr>
            <a:endParaRPr lang="en-US" sz="12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0EE337C-542D-4EA3-1026-1B4DB20F0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376" y="1864614"/>
            <a:ext cx="8046400" cy="327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2429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Next Steps</a:t>
            </a:r>
            <a:endParaRPr lang="en-US" sz="360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how predictive analytics can transform content acquisition from intuition-driven to data-driven decision making.</a:t>
            </a:r>
            <a:endParaRPr lang="en-US" sz="150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1800"/>
          </a:p>
        </p:txBody>
      </p:sp>
      <p:sp>
        <p:nvSpPr>
          <p:cNvPr id="5" name="Text 3"/>
          <p:cNvSpPr/>
          <p:nvPr/>
        </p:nvSpPr>
        <p:spPr>
          <a:xfrm>
            <a:off x="1097280" y="2743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data provides rich features for audience prediction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1097280" y="3154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expected as the strongest predictor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1097280" y="3566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reveals actionable content segments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1097280" y="3977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pipeline built on Apache Spark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493776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2CA5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1800"/>
          </a:p>
        </p:txBody>
      </p:sp>
      <p:sp>
        <p:nvSpPr>
          <p:cNvPr id="11" name="Text 9"/>
          <p:cNvSpPr/>
          <p:nvPr/>
        </p:nvSpPr>
        <p:spPr>
          <a:xfrm>
            <a:off x="5303520" y="3154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 Language Bias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5303520" y="3566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interactive visualization dashboard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5303520" y="3977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real-time scoring for new titles</a:t>
            </a:r>
            <a:endParaRPr lang="en-US" sz="120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49A357DC-E97F-1904-388C-8E676DB79B7D}"/>
              </a:ext>
            </a:extLst>
          </p:cNvPr>
          <p:cNvSpPr/>
          <p:nvPr/>
        </p:nvSpPr>
        <p:spPr>
          <a:xfrm>
            <a:off x="5303520" y="2788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Integration on title summaries and reviews to extract sentiment features</a:t>
            </a:r>
            <a:endParaRPr 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1369</Words>
  <Application>Microsoft Office PowerPoint</Application>
  <PresentationFormat>On-screen Show (16:9)</PresentationFormat>
  <Paragraphs>286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Georgia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عزالدين احمد صابر الطهرى سليم</dc:creator>
  <cp:lastModifiedBy>عزالدين احمد صابر الطهرى سليم</cp:lastModifiedBy>
  <cp:revision>3</cp:revision>
  <dcterms:created xsi:type="dcterms:W3CDTF">2026-05-04T19:13:41Z</dcterms:created>
  <dcterms:modified xsi:type="dcterms:W3CDTF">2026-05-05T03:14:52Z</dcterms:modified>
</cp:coreProperties>
</file>